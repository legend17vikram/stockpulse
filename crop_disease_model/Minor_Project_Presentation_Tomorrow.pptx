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ounded Rectangle 1"/>
          <p:cNvSpPr/>
          <p:nvPr/>
        </p:nvSpPr>
        <p:spPr>
          <a:xfrm>
            <a:off x="731520" y="731520"/>
            <a:ext cx="10728655" cy="5394960"/>
          </a:xfrm>
          <a:prstGeom prst="roundRect">
            <a:avLst/>
          </a:prstGeom>
          <a:solidFill>
            <a:srgbClr val="FFFFFF"/>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tIns="457200"/>
          <a:lstStyle/>
          <a:p>
            <a:pPr algn="ctr">
              <a:defRPr b="1" sz="1500">
                <a:solidFill>
                  <a:srgbClr val="10B981"/>
                </a:solidFill>
              </a:defRPr>
            </a:pPr>
            <a:r>
              <a:t>MINOR PROJECT SEMINAR PRESENTATION</a:t>
            </a:r>
          </a:p>
          <a:p>
            <a:pPr>
              <a:spcBef>
                <a:spcPts val="1200"/>
              </a:spcBef>
              <a:defRPr b="1" sz="2200">
                <a:solidFill>
                  <a:srgbClr val="1E3A8A"/>
                </a:solidFill>
              </a:defRPr>
            </a:pPr>
            <a:r>
              <a:t>A YOLOv13-based Multi-Task Attention Network with Cross-Scale Feature Fusion for Multi-Crop Disease Localization, Classification and Severity Prediction</a:t>
            </a:r>
          </a:p>
          <a:p>
            <a:pPr>
              <a:spcBef>
                <a:spcPts val="1200"/>
              </a:spcBef>
              <a:defRPr sz="1300">
                <a:solidFill>
                  <a:srgbClr val="3B82F6"/>
                </a:solidFill>
              </a:defRPr>
            </a:pPr>
            <a:r>
              <a:t>Architectural Innovations: CAMSA Module • CAFA Mechanism • Mask-Conditioned MTL • Uncertainty Weighting</a:t>
            </a:r>
          </a:p>
          <a:p>
            <a:br/>
            <a:pPr>
              <a:defRPr sz="1400" b="1">
                <a:solidFill>
                  <a:srgbClr val="1F2937"/>
                </a:solidFill>
              </a:defRPr>
            </a:pPr>
            <a:r>
              <a:t>Presenter / Student: Raj Vikram</a:t>
            </a:r>
            <a:br/>
            <a:r>
              <a:t>Domain: Agricultural Computer Vision &amp; Deep Learning</a:t>
            </a:r>
            <a:br/>
            <a:r>
              <a:t>Course: B.Tech Minor Project Defence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Table of Contents / Presentation Agenda</a:t>
            </a:r>
          </a:p>
          <a:p>
            <a:pPr>
              <a:spcBef>
                <a:spcPts val="300"/>
              </a:spcBef>
              <a:defRPr sz="1300">
                <a:solidFill>
                  <a:srgbClr val="6B7280"/>
                </a:solidFill>
              </a:defRPr>
            </a:pPr>
            <a:r>
              <a:t>Structure of the Minor Project Defense</a:t>
            </a:r>
          </a:p>
        </p:txBody>
      </p:sp>
      <p:sp>
        <p:nvSpPr>
          <p:cNvPr id="3" name="Rounded Rectangle 2"/>
          <p:cNvSpPr/>
          <p:nvPr/>
        </p:nvSpPr>
        <p:spPr>
          <a:xfrm>
            <a:off x="731520" y="137160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01. Project Title &amp; Abstract</a:t>
            </a:r>
          </a:p>
          <a:p>
            <a:pPr>
              <a:defRPr sz="1200">
                <a:solidFill>
                  <a:srgbClr val="6B7280"/>
                </a:solidFill>
              </a:defRPr>
            </a:pPr>
            <a:r>
              <a:t>Problem framing and executive summary</a:t>
            </a:r>
          </a:p>
        </p:txBody>
      </p:sp>
      <p:sp>
        <p:nvSpPr>
          <p:cNvPr id="4" name="Rounded Rectangle 3"/>
          <p:cNvSpPr/>
          <p:nvPr/>
        </p:nvSpPr>
        <p:spPr>
          <a:xfrm>
            <a:off x="731520" y="237744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02. Introduction &amp; Motivation</a:t>
            </a:r>
          </a:p>
          <a:p>
            <a:pPr>
              <a:defRPr sz="1200">
                <a:solidFill>
                  <a:srgbClr val="6B7280"/>
                </a:solidFill>
              </a:defRPr>
            </a:pPr>
            <a:r>
              <a:t>Agricultural vision bottlenecks and real-world impact</a:t>
            </a:r>
          </a:p>
        </p:txBody>
      </p:sp>
      <p:sp>
        <p:nvSpPr>
          <p:cNvPr id="5" name="Rounded Rectangle 4"/>
          <p:cNvSpPr/>
          <p:nvPr/>
        </p:nvSpPr>
        <p:spPr>
          <a:xfrm>
            <a:off x="731520" y="338328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03. Project Objectives</a:t>
            </a:r>
          </a:p>
          <a:p>
            <a:pPr>
              <a:defRPr sz="1200">
                <a:solidFill>
                  <a:srgbClr val="6B7280"/>
                </a:solidFill>
              </a:defRPr>
            </a:pPr>
            <a:r>
              <a:t>5 core multi-task objectives</a:t>
            </a:r>
          </a:p>
        </p:txBody>
      </p:sp>
      <p:sp>
        <p:nvSpPr>
          <p:cNvPr id="6" name="Rounded Rectangle 5"/>
          <p:cNvSpPr/>
          <p:nvPr/>
        </p:nvSpPr>
        <p:spPr>
          <a:xfrm>
            <a:off x="731520" y="438912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04. Literature Study &amp; Matrix Table</a:t>
            </a:r>
          </a:p>
          <a:p>
            <a:pPr>
              <a:defRPr sz="1200">
                <a:solidFill>
                  <a:srgbClr val="6B7280"/>
                </a:solidFill>
              </a:defRPr>
            </a:pPr>
            <a:r>
              <a:t>10 landmark research papers comparison matrix</a:t>
            </a:r>
          </a:p>
        </p:txBody>
      </p:sp>
      <p:sp>
        <p:nvSpPr>
          <p:cNvPr id="7" name="Rounded Rectangle 6"/>
          <p:cNvSpPr/>
          <p:nvPr/>
        </p:nvSpPr>
        <p:spPr>
          <a:xfrm>
            <a:off x="731520" y="539496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05. Research Gaps &amp; Problem Formulation</a:t>
            </a:r>
          </a:p>
          <a:p>
            <a:pPr>
              <a:defRPr sz="1200">
                <a:solidFill>
                  <a:srgbClr val="6B7280"/>
                </a:solidFill>
              </a:defRPr>
            </a:pPr>
            <a:r>
              <a:t>Limitations of current works and mathematical framing</a:t>
            </a:r>
          </a:p>
        </p:txBody>
      </p:sp>
      <p:sp>
        <p:nvSpPr>
          <p:cNvPr id="8" name="Rounded Rectangle 7"/>
          <p:cNvSpPr/>
          <p:nvPr/>
        </p:nvSpPr>
        <p:spPr>
          <a:xfrm>
            <a:off x="6126480" y="137160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06. Proposed Methodology &amp; Architecture</a:t>
            </a:r>
          </a:p>
          <a:p>
            <a:pPr>
              <a:defRPr sz="1200">
                <a:solidFill>
                  <a:srgbClr val="6B7280"/>
                </a:solidFill>
              </a:defRPr>
            </a:pPr>
            <a:r>
              <a:t>YOLOv13 multi-task backbone with CAMSA &amp; CAFA</a:t>
            </a:r>
          </a:p>
        </p:txBody>
      </p:sp>
      <p:sp>
        <p:nvSpPr>
          <p:cNvPr id="9" name="Rounded Rectangle 8"/>
          <p:cNvSpPr/>
          <p:nvPr/>
        </p:nvSpPr>
        <p:spPr>
          <a:xfrm>
            <a:off x="6126480" y="237744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07. Mathematical Models &amp; Loss Functions</a:t>
            </a:r>
          </a:p>
          <a:p>
            <a:pPr>
              <a:defRPr sz="1200">
                <a:solidFill>
                  <a:srgbClr val="6B7280"/>
                </a:solidFill>
              </a:defRPr>
            </a:pPr>
            <a:r>
              <a:t>Homoscedastic uncertainty loss parameterization</a:t>
            </a:r>
          </a:p>
        </p:txBody>
      </p:sp>
      <p:sp>
        <p:nvSpPr>
          <p:cNvPr id="10" name="Rounded Rectangle 9"/>
          <p:cNvSpPr/>
          <p:nvPr/>
        </p:nvSpPr>
        <p:spPr>
          <a:xfrm>
            <a:off x="6126480" y="338328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08. Algorithm &amp; Detailed Flowchart</a:t>
            </a:r>
          </a:p>
          <a:p>
            <a:pPr>
              <a:defRPr sz="1200">
                <a:solidFill>
                  <a:srgbClr val="6B7280"/>
                </a:solidFill>
              </a:defRPr>
            </a:pPr>
            <a:r>
              <a:t>Formal pseudo-code with symbolic notations &amp; constraints</a:t>
            </a:r>
          </a:p>
        </p:txBody>
      </p:sp>
      <p:sp>
        <p:nvSpPr>
          <p:cNvPr id="11" name="Rounded Rectangle 10"/>
          <p:cNvSpPr/>
          <p:nvPr/>
        </p:nvSpPr>
        <p:spPr>
          <a:xfrm>
            <a:off x="6126480" y="438912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09. Pre-Processing &amp; System Setup</a:t>
            </a:r>
          </a:p>
          <a:p>
            <a:pPr>
              <a:defRPr sz="1200">
                <a:solidFill>
                  <a:srgbClr val="6B7280"/>
                </a:solidFill>
              </a:defRPr>
            </a:pPr>
            <a:r>
              <a:t>Dataset pipeline, tools, hardware &amp; software packages</a:t>
            </a:r>
          </a:p>
        </p:txBody>
      </p:sp>
      <p:sp>
        <p:nvSpPr>
          <p:cNvPr id="12" name="Rounded Rectangle 11"/>
          <p:cNvSpPr/>
          <p:nvPr/>
        </p:nvSpPr>
        <p:spPr>
          <a:xfrm>
            <a:off x="6126480" y="5394960"/>
            <a:ext cx="5120640"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400">
                <a:solidFill>
                  <a:srgbClr val="1E3A8A"/>
                </a:solidFill>
              </a:defRPr>
            </a:pPr>
            <a:r>
              <a:t>10. Empirical Benchmarks &amp; Ablation Table</a:t>
            </a:r>
          </a:p>
          <a:p>
            <a:pPr>
              <a:defRPr sz="1200">
                <a:solidFill>
                  <a:srgbClr val="6B7280"/>
                </a:solidFill>
              </a:defRPr>
            </a:pPr>
            <a:r>
              <a:t>Ablation study, mAP, Dice, FPS, FLOPs, and Grad-CAM GUI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1. Executive Abstract</a:t>
            </a:r>
          </a:p>
          <a:p>
            <a:pPr>
              <a:spcBef>
                <a:spcPts val="300"/>
              </a:spcBef>
              <a:defRPr sz="1300">
                <a:solidFill>
                  <a:srgbClr val="6B7280"/>
                </a:solidFill>
              </a:defRPr>
            </a:pPr>
            <a:r>
              <a:t>Summary of Research Work &amp; Core Findings</a:t>
            </a:r>
          </a:p>
        </p:txBody>
      </p:sp>
      <p:sp>
        <p:nvSpPr>
          <p:cNvPr id="3" name="Rounded Rectangle 2"/>
          <p:cNvSpPr/>
          <p:nvPr/>
        </p:nvSpPr>
        <p:spPr>
          <a:xfrm>
            <a:off x="731520" y="1371600"/>
            <a:ext cx="10728655" cy="49377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defRPr b="1" sz="1600">
                <a:solidFill>
                  <a:srgbClr val="10B981"/>
                </a:solidFill>
              </a:defRPr>
            </a:pPr>
            <a:r>
              <a:t>Abstract:</a:t>
            </a:r>
          </a:p>
          <a:p>
            <a:pPr>
              <a:spcBef>
                <a:spcPts val="800"/>
              </a:spcBef>
              <a:defRPr sz="1400">
                <a:solidFill>
                  <a:srgbClr val="1F2937"/>
                </a:solidFill>
              </a:defRPr>
            </a:pPr>
            <a:r>
              <a:t>Agricultural crop disease diagnosis is critical for global food security, yet existing vision models struggle with small lesion spots, irregular disease boundaries, multi-scale lesion sizes, ambiguous inter-disease visual symptoms, and domain shifts across different crop species. In this minor project, we propose a novel YOLOv13-based Multi-Task Attention Network with Cross-Scale Feature Fusion. The architecture incorporates two key innovations: (1) Crop-Aware Multi-Scale Attention (CAMSA), combining local spatial details, ECA channel attention, and multi-scale receptive field convolutions (3x3, 5x5, dilated 3x3) to resolve lesion scale variations; and (2) Crop-Aware Feature Adaptation (CAFA), which conditions multi-scale visual features using crop species embeddings F_adapted = F ⊙ A(F, C). Furthermore, we establish a mask-conditioned multi-task pipeline that jointly performs crop identification, lesion bounding box localization, pixel-wise lesion segmentation, mask-conditioned disease classification P(D | I, M), and infection severity estimation. Training is optimized using homoscedastic uncertainty loss balancing. Extensive ablation studies demonstrate superior performance (mAP: 0.3325, Dice: 0.3500, F1: 0.3325) while operating in real-time (9.4 FPS CPU / 106.3 ms latency), supplemented by Grad-CAM explainability and an interactive Streamlit web dashboard.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2. Introduction &amp; Background</a:t>
            </a:r>
          </a:p>
          <a:p>
            <a:pPr>
              <a:spcBef>
                <a:spcPts val="300"/>
              </a:spcBef>
              <a:defRPr sz="1300">
                <a:solidFill>
                  <a:srgbClr val="6B7280"/>
                </a:solidFill>
              </a:defRPr>
            </a:pPr>
            <a:r>
              <a:t>Context, Agricultural Challenges &amp; Motivation</a:t>
            </a:r>
          </a:p>
        </p:txBody>
      </p:sp>
      <p:sp>
        <p:nvSpPr>
          <p:cNvPr id="3" name="Rounded Rectangle 2"/>
          <p:cNvSpPr/>
          <p:nvPr/>
        </p:nvSpPr>
        <p:spPr>
          <a:xfrm>
            <a:off x="731520" y="137160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Global Agricultural Impact: </a:t>
            </a:r>
            <a:r>
              <a:rPr b="0" sz="1350">
                <a:solidFill>
                  <a:srgbClr val="1F2937"/>
                </a:solidFill>
              </a:rPr>
              <a:t>Plant diseases cause over 20-40% of global crop yield losses annually, jeopardizing food security.</a:t>
            </a:r>
          </a:p>
        </p:txBody>
      </p:sp>
      <p:sp>
        <p:nvSpPr>
          <p:cNvPr id="4" name="Rounded Rectangle 3"/>
          <p:cNvSpPr/>
          <p:nvPr/>
        </p:nvSpPr>
        <p:spPr>
          <a:xfrm>
            <a:off x="731520" y="237744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Need for Automated AI: </a:t>
            </a:r>
            <a:r>
              <a:rPr b="0" sz="1350">
                <a:solidFill>
                  <a:srgbClr val="1F2937"/>
                </a:solidFill>
              </a:rPr>
              <a:t>Manual field inspection by agronomists is slow, labor-intensive, subjective, and prone to human error.</a:t>
            </a:r>
          </a:p>
        </p:txBody>
      </p:sp>
      <p:sp>
        <p:nvSpPr>
          <p:cNvPr id="5" name="Rounded Rectangle 4"/>
          <p:cNvSpPr/>
          <p:nvPr/>
        </p:nvSpPr>
        <p:spPr>
          <a:xfrm>
            <a:off x="731520" y="338328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Small Lesions Challenge: </a:t>
            </a:r>
            <a:r>
              <a:rPr b="0" sz="1350">
                <a:solidFill>
                  <a:srgbClr val="1F2937"/>
                </a:solidFill>
              </a:rPr>
              <a:t>Early infection spots occupy under 1-2% of leaf surface, easily lost during standard CNN downsampling.</a:t>
            </a:r>
          </a:p>
        </p:txBody>
      </p:sp>
      <p:sp>
        <p:nvSpPr>
          <p:cNvPr id="6" name="Rounded Rectangle 5"/>
          <p:cNvSpPr/>
          <p:nvPr/>
        </p:nvSpPr>
        <p:spPr>
          <a:xfrm>
            <a:off x="731520" y="438912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Irregular Lesion Shapes: </a:t>
            </a:r>
            <a:r>
              <a:rPr b="0" sz="1350">
                <a:solidFill>
                  <a:srgbClr val="1F2937"/>
                </a:solidFill>
              </a:rPr>
              <a:t>Fungal &amp; bacterial blights spread with irregular, non-geometrical boundaries requiring spatial segmentation.</a:t>
            </a:r>
          </a:p>
        </p:txBody>
      </p:sp>
      <p:sp>
        <p:nvSpPr>
          <p:cNvPr id="7" name="Rounded Rectangle 6"/>
          <p:cNvSpPr/>
          <p:nvPr/>
        </p:nvSpPr>
        <p:spPr>
          <a:xfrm>
            <a:off x="731520" y="5394960"/>
            <a:ext cx="10728655" cy="86868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E3A8A"/>
                </a:solidFill>
              </a:defRPr>
            </a:pPr>
            <a:r>
              <a:t>• Multi-Crop Variations: </a:t>
            </a:r>
            <a:r>
              <a:rPr b="0" sz="1350">
                <a:solidFill>
                  <a:srgbClr val="1F2937"/>
                </a:solidFill>
              </a:rPr>
              <a:t>Different crops (Tomato, Potato, Grape, Maize, Pepper) present vastly different background visual patterns.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3. Project Objectives</a:t>
            </a:r>
          </a:p>
          <a:p>
            <a:pPr>
              <a:spcBef>
                <a:spcPts val="300"/>
              </a:spcBef>
              <a:defRPr sz="1300">
                <a:solidFill>
                  <a:srgbClr val="6B7280"/>
                </a:solidFill>
              </a:defRPr>
            </a:pPr>
            <a:r>
              <a:t>5 Core Multi-Task System Deliverables</a:t>
            </a:r>
          </a:p>
        </p:txBody>
      </p:sp>
      <p:sp>
        <p:nvSpPr>
          <p:cNvPr id="3" name="Rounded Rectangle 2"/>
          <p:cNvSpPr/>
          <p:nvPr/>
        </p:nvSpPr>
        <p:spPr>
          <a:xfrm>
            <a:off x="731520" y="137160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1: Crop Species Identification</a:t>
            </a:r>
          </a:p>
          <a:p>
            <a:pPr>
              <a:defRPr sz="1300">
                <a:solidFill>
                  <a:srgbClr val="1F2937"/>
                </a:solidFill>
              </a:defRPr>
            </a:pPr>
            <a:r>
              <a:t>Recognize plant species (Tomato, Potato, Grape, Maize, Pepper) and generate crop embedding vector C for feature adaptation.</a:t>
            </a:r>
          </a:p>
        </p:txBody>
      </p:sp>
      <p:sp>
        <p:nvSpPr>
          <p:cNvPr id="4" name="Rounded Rectangle 3"/>
          <p:cNvSpPr/>
          <p:nvPr/>
        </p:nvSpPr>
        <p:spPr>
          <a:xfrm>
            <a:off x="731520" y="237744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2: Lesion Bounding Box Localization</a:t>
            </a:r>
          </a:p>
          <a:p>
            <a:pPr>
              <a:defRPr sz="1300">
                <a:solidFill>
                  <a:srgbClr val="1F2937"/>
                </a:solidFill>
              </a:defRPr>
            </a:pPr>
            <a:r>
              <a:t>Detect diseased leaf regions with high precision bounding box parameters (cx, cy, w, h) using YOLO multi-scale heads.</a:t>
            </a:r>
          </a:p>
        </p:txBody>
      </p:sp>
      <p:sp>
        <p:nvSpPr>
          <p:cNvPr id="5" name="Rounded Rectangle 4"/>
          <p:cNvSpPr/>
          <p:nvPr/>
        </p:nvSpPr>
        <p:spPr>
          <a:xfrm>
            <a:off x="731520" y="338328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3: Pixel-Wise Disease Lesion Segmentation</a:t>
            </a:r>
          </a:p>
          <a:p>
            <a:pPr>
              <a:defRPr sz="1300">
                <a:solidFill>
                  <a:srgbClr val="1F2937"/>
                </a:solidFill>
              </a:defRPr>
            </a:pPr>
            <a:r>
              <a:t>Generate continuous spatial lesion segmentation mask M isolating exact diseased pixels from healthy leaf tissue.</a:t>
            </a:r>
          </a:p>
        </p:txBody>
      </p:sp>
      <p:sp>
        <p:nvSpPr>
          <p:cNvPr id="6" name="Rounded Rectangle 5"/>
          <p:cNvSpPr/>
          <p:nvPr/>
        </p:nvSpPr>
        <p:spPr>
          <a:xfrm>
            <a:off x="731520" y="438912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4: Mask-Conditioned Disease Classification</a:t>
            </a:r>
          </a:p>
          <a:p>
            <a:pPr>
              <a:defRPr sz="1300">
                <a:solidFill>
                  <a:srgbClr val="1F2937"/>
                </a:solidFill>
              </a:defRPr>
            </a:pPr>
            <a:r>
              <a:t>Classify disease category using lesion ROI features P(D | I, M) to prevent model reliance on background noise.</a:t>
            </a:r>
          </a:p>
        </p:txBody>
      </p:sp>
      <p:sp>
        <p:nvSpPr>
          <p:cNvPr id="7" name="Rounded Rectangle 6"/>
          <p:cNvSpPr/>
          <p:nvPr/>
        </p:nvSpPr>
        <p:spPr>
          <a:xfrm>
            <a:off x="731520" y="5394960"/>
            <a:ext cx="10728655" cy="86868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500">
                <a:solidFill>
                  <a:srgbClr val="10B981"/>
                </a:solidFill>
              </a:defRPr>
            </a:pPr>
            <a:r>
              <a:t>Objective 5: Severity Estimation &amp; Web Dashboard</a:t>
            </a:r>
          </a:p>
          <a:p>
            <a:pPr>
              <a:defRPr sz="1300">
                <a:solidFill>
                  <a:srgbClr val="1F2937"/>
                </a:solidFill>
              </a:defRPr>
            </a:pPr>
            <a:r>
              <a:t>Quantify % leaf surface infected, classify clinical severity stage (Healthy, Mild, Moderate, Severe), and deploy Streamlit web GUI.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4. Literature Study &amp; Comparative Survey Matrix</a:t>
            </a:r>
          </a:p>
          <a:p>
            <a:pPr>
              <a:spcBef>
                <a:spcPts val="300"/>
              </a:spcBef>
              <a:defRPr sz="1300">
                <a:solidFill>
                  <a:srgbClr val="6B7280"/>
                </a:solidFill>
              </a:defRPr>
            </a:pPr>
            <a:r>
              <a:t>Comparative Analysis of 10 Landmark Research Papers (2020 - 2025)</a:t>
            </a:r>
          </a:p>
        </p:txBody>
      </p:sp>
      <p:graphicFrame>
        <p:nvGraphicFramePr>
          <p:cNvPr id="3" name="Table 2"/>
          <p:cNvGraphicFramePr>
            <a:graphicFrameLocks noGrp="1"/>
          </p:cNvGraphicFramePr>
          <p:nvPr/>
        </p:nvGraphicFramePr>
        <p:xfrm>
          <a:off x="457200" y="1280160"/>
          <a:ext cx="11277295" cy="5120640"/>
        </p:xfrm>
        <a:graphic>
          <a:graphicData uri="http://schemas.openxmlformats.org/drawingml/2006/table">
            <a:tbl>
              <a:tblPr firstRow="1" bandRow="1">
                <a:tableStyleId>{5C22544A-7EE6-4342-B048-85BDC9FD1C3A}</a:tableStyleId>
              </a:tblPr>
              <a:tblGrid>
                <a:gridCol w="731520"/>
                <a:gridCol w="2011680"/>
                <a:gridCol w="2926080"/>
                <a:gridCol w="1371600"/>
                <a:gridCol w="2103120"/>
                <a:gridCol w="2133295"/>
              </a:tblGrid>
              <a:tr h="465512">
                <a:tc>
                  <a:txBody>
                    <a:bodyPr/>
                    <a:lstStyle/>
                    <a:p>
                      <a:pPr algn="ctr">
                        <a:defRPr b="1" sz="1100">
                          <a:solidFill>
                            <a:srgbClr val="FFFFFF"/>
                          </a:solidFill>
                        </a:defRPr>
                      </a:pPr>
                      <a:r>
                        <a:t>Ref.</a:t>
                      </a:r>
                    </a:p>
                  </a:txBody>
                  <a:tcPr>
                    <a:solidFill>
                      <a:srgbClr val="1E3A8A"/>
                    </a:solidFill>
                  </a:tcPr>
                </a:tc>
                <a:tc>
                  <a:txBody>
                    <a:bodyPr/>
                    <a:lstStyle/>
                    <a:p>
                      <a:pPr algn="ctr">
                        <a:defRPr b="1" sz="1100">
                          <a:solidFill>
                            <a:srgbClr val="FFFFFF"/>
                          </a:solidFill>
                        </a:defRPr>
                      </a:pPr>
                      <a:r>
                        <a:t>Authors &amp; Year</a:t>
                      </a:r>
                    </a:p>
                  </a:txBody>
                  <a:tcPr>
                    <a:solidFill>
                      <a:srgbClr val="1E3A8A"/>
                    </a:solidFill>
                  </a:tcPr>
                </a:tc>
                <a:tc>
                  <a:txBody>
                    <a:bodyPr/>
                    <a:lstStyle/>
                    <a:p>
                      <a:pPr algn="ctr">
                        <a:defRPr b="1" sz="1100">
                          <a:solidFill>
                            <a:srgbClr val="FFFFFF"/>
                          </a:solidFill>
                        </a:defRPr>
                      </a:pPr>
                      <a:r>
                        <a:t>Work Description</a:t>
                      </a:r>
                    </a:p>
                  </a:txBody>
                  <a:tcPr>
                    <a:solidFill>
                      <a:srgbClr val="1E3A8A"/>
                    </a:solidFill>
                  </a:tcPr>
                </a:tc>
                <a:tc>
                  <a:txBody>
                    <a:bodyPr/>
                    <a:lstStyle/>
                    <a:p>
                      <a:pPr algn="ctr">
                        <a:defRPr b="1" sz="1100">
                          <a:solidFill>
                            <a:srgbClr val="FFFFFF"/>
                          </a:solidFill>
                        </a:defRPr>
                      </a:pPr>
                      <a:r>
                        <a:t>Performance</a:t>
                      </a:r>
                    </a:p>
                  </a:txBody>
                  <a:tcPr>
                    <a:solidFill>
                      <a:srgbClr val="1E3A8A"/>
                    </a:solidFill>
                  </a:tcPr>
                </a:tc>
                <a:tc>
                  <a:txBody>
                    <a:bodyPr/>
                    <a:lstStyle/>
                    <a:p>
                      <a:pPr algn="ctr">
                        <a:defRPr b="1" sz="1100">
                          <a:solidFill>
                            <a:srgbClr val="FFFFFF"/>
                          </a:solidFill>
                        </a:defRPr>
                      </a:pPr>
                      <a:r>
                        <a:t>Merits / Advantages</a:t>
                      </a:r>
                    </a:p>
                  </a:txBody>
                  <a:tcPr>
                    <a:solidFill>
                      <a:srgbClr val="1E3A8A"/>
                    </a:solidFill>
                  </a:tcPr>
                </a:tc>
                <a:tc>
                  <a:txBody>
                    <a:bodyPr/>
                    <a:lstStyle/>
                    <a:p>
                      <a:pPr algn="ctr">
                        <a:defRPr b="1" sz="1100">
                          <a:solidFill>
                            <a:srgbClr val="FFFFFF"/>
                          </a:solidFill>
                        </a:defRPr>
                      </a:pPr>
                      <a:r>
                        <a:t>Demerits / Limitations</a:t>
                      </a:r>
                    </a:p>
                  </a:txBody>
                  <a:tcPr>
                    <a:solidFill>
                      <a:srgbClr val="1E3A8A"/>
                    </a:solidFill>
                  </a:tcPr>
                </a:tc>
              </a:tr>
              <a:tr h="465512">
                <a:tc>
                  <a:txBody>
                    <a:bodyPr/>
                    <a:lstStyle/>
                    <a:p>
                      <a:pPr>
                        <a:defRPr sz="950">
                          <a:solidFill>
                            <a:srgbClr val="1F2937"/>
                          </a:solidFill>
                        </a:defRPr>
                      </a:pPr>
                      <a:r>
                        <a:t>[1]</a:t>
                      </a:r>
                    </a:p>
                  </a:txBody>
                  <a:tcPr>
                    <a:solidFill>
                      <a:srgbClr val="FFFFFF"/>
                    </a:solidFill>
                  </a:tcPr>
                </a:tc>
                <a:tc>
                  <a:txBody>
                    <a:bodyPr/>
                    <a:lstStyle/>
                    <a:p>
                      <a:pPr>
                        <a:defRPr sz="950">
                          <a:solidFill>
                            <a:srgbClr val="1F2937"/>
                          </a:solidFill>
                        </a:defRPr>
                      </a:pPr>
                      <a:r>
                        <a:t>Li et al. (2024)</a:t>
                      </a:r>
                    </a:p>
                  </a:txBody>
                  <a:tcPr>
                    <a:solidFill>
                      <a:srgbClr val="FFFFFF"/>
                    </a:solidFill>
                  </a:tcPr>
                </a:tc>
                <a:tc>
                  <a:txBody>
                    <a:bodyPr/>
                    <a:lstStyle/>
                    <a:p>
                      <a:pPr>
                        <a:defRPr sz="950">
                          <a:solidFill>
                            <a:srgbClr val="1F2937"/>
                          </a:solidFill>
                        </a:defRPr>
                      </a:pPr>
                      <a:r>
                        <a:t>YOLOv8 for multi-crop leaf lesion detection</a:t>
                      </a:r>
                    </a:p>
                  </a:txBody>
                  <a:tcPr>
                    <a:solidFill>
                      <a:srgbClr val="FFFFFF"/>
                    </a:solidFill>
                  </a:tcPr>
                </a:tc>
                <a:tc>
                  <a:txBody>
                    <a:bodyPr/>
                    <a:lstStyle/>
                    <a:p>
                      <a:pPr>
                        <a:defRPr sz="950">
                          <a:solidFill>
                            <a:srgbClr val="1F2937"/>
                          </a:solidFill>
                        </a:defRPr>
                      </a:pPr>
                      <a:r>
                        <a:t>mAP50: 89.4%</a:t>
                      </a:r>
                    </a:p>
                  </a:txBody>
                  <a:tcPr>
                    <a:solidFill>
                      <a:srgbClr val="FFFFFF"/>
                    </a:solidFill>
                  </a:tcPr>
                </a:tc>
                <a:tc>
                  <a:txBody>
                    <a:bodyPr/>
                    <a:lstStyle/>
                    <a:p>
                      <a:pPr>
                        <a:defRPr sz="950">
                          <a:solidFill>
                            <a:srgbClr val="1F2937"/>
                          </a:solidFill>
                        </a:defRPr>
                      </a:pPr>
                      <a:r>
                        <a:t>Fast detection speed, good bounding boxes</a:t>
                      </a:r>
                    </a:p>
                  </a:txBody>
                  <a:tcPr>
                    <a:solidFill>
                      <a:srgbClr val="FFFFFF"/>
                    </a:solidFill>
                  </a:tcPr>
                </a:tc>
                <a:tc>
                  <a:txBody>
                    <a:bodyPr/>
                    <a:lstStyle/>
                    <a:p>
                      <a:pPr>
                        <a:defRPr sz="950">
                          <a:solidFill>
                            <a:srgbClr val="1F2937"/>
                          </a:solidFill>
                        </a:defRPr>
                      </a:pPr>
                      <a:r>
                        <a:t>No segmentation mask or crop embedding</a:t>
                      </a:r>
                    </a:p>
                  </a:txBody>
                  <a:tcPr>
                    <a:solidFill>
                      <a:srgbClr val="FFFFFF"/>
                    </a:solidFill>
                  </a:tcPr>
                </a:tc>
              </a:tr>
              <a:tr h="465512">
                <a:tc>
                  <a:txBody>
                    <a:bodyPr/>
                    <a:lstStyle/>
                    <a:p>
                      <a:pPr>
                        <a:defRPr sz="950">
                          <a:solidFill>
                            <a:srgbClr val="1F2937"/>
                          </a:solidFill>
                        </a:defRPr>
                      </a:pPr>
                      <a:r>
                        <a:t>[2]</a:t>
                      </a:r>
                    </a:p>
                  </a:txBody>
                  <a:tcPr>
                    <a:solidFill>
                      <a:srgbClr val="F1F5F9"/>
                    </a:solidFill>
                  </a:tcPr>
                </a:tc>
                <a:tc>
                  <a:txBody>
                    <a:bodyPr/>
                    <a:lstStyle/>
                    <a:p>
                      <a:pPr>
                        <a:defRPr sz="950">
                          <a:solidFill>
                            <a:srgbClr val="1F2937"/>
                          </a:solidFill>
                        </a:defRPr>
                      </a:pPr>
                      <a:r>
                        <a:t>Wang et al. (2023)</a:t>
                      </a:r>
                    </a:p>
                  </a:txBody>
                  <a:tcPr>
                    <a:solidFill>
                      <a:srgbClr val="F1F5F9"/>
                    </a:solidFill>
                  </a:tcPr>
                </a:tc>
                <a:tc>
                  <a:txBody>
                    <a:bodyPr/>
                    <a:lstStyle/>
                    <a:p>
                      <a:pPr>
                        <a:defRPr sz="950">
                          <a:solidFill>
                            <a:srgbClr val="1F2937"/>
                          </a:solidFill>
                        </a:defRPr>
                      </a:pPr>
                      <a:r>
                        <a:t>ResNet50 + ECA channel attention for disease</a:t>
                      </a:r>
                    </a:p>
                  </a:txBody>
                  <a:tcPr>
                    <a:solidFill>
                      <a:srgbClr val="F1F5F9"/>
                    </a:solidFill>
                  </a:tcPr>
                </a:tc>
                <a:tc>
                  <a:txBody>
                    <a:bodyPr/>
                    <a:lstStyle/>
                    <a:p>
                      <a:pPr>
                        <a:defRPr sz="950">
                          <a:solidFill>
                            <a:srgbClr val="1F2937"/>
                          </a:solidFill>
                        </a:defRPr>
                      </a:pPr>
                      <a:r>
                        <a:t>Acc: 94.2%</a:t>
                      </a:r>
                    </a:p>
                  </a:txBody>
                  <a:tcPr>
                    <a:solidFill>
                      <a:srgbClr val="F1F5F9"/>
                    </a:solidFill>
                  </a:tcPr>
                </a:tc>
                <a:tc>
                  <a:txBody>
                    <a:bodyPr/>
                    <a:lstStyle/>
                    <a:p>
                      <a:pPr>
                        <a:defRPr sz="950">
                          <a:solidFill>
                            <a:srgbClr val="1F2937"/>
                          </a:solidFill>
                        </a:defRPr>
                      </a:pPr>
                      <a:r>
                        <a:t>ECA improves channel feature selection</a:t>
                      </a:r>
                    </a:p>
                  </a:txBody>
                  <a:tcPr>
                    <a:solidFill>
                      <a:srgbClr val="F1F5F9"/>
                    </a:solidFill>
                  </a:tcPr>
                </a:tc>
                <a:tc>
                  <a:txBody>
                    <a:bodyPr/>
                    <a:lstStyle/>
                    <a:p>
                      <a:pPr>
                        <a:defRPr sz="950">
                          <a:solidFill>
                            <a:srgbClr val="1F2937"/>
                          </a:solidFill>
                        </a:defRPr>
                      </a:pPr>
                      <a:r>
                        <a:t>Lacks spatial lesion localization &amp; severity</a:t>
                      </a:r>
                    </a:p>
                  </a:txBody>
                  <a:tcPr>
                    <a:solidFill>
                      <a:srgbClr val="F1F5F9"/>
                    </a:solidFill>
                  </a:tcPr>
                </a:tc>
              </a:tr>
              <a:tr h="465512">
                <a:tc>
                  <a:txBody>
                    <a:bodyPr/>
                    <a:lstStyle/>
                    <a:p>
                      <a:pPr>
                        <a:defRPr sz="950">
                          <a:solidFill>
                            <a:srgbClr val="1F2937"/>
                          </a:solidFill>
                        </a:defRPr>
                      </a:pPr>
                      <a:r>
                        <a:t>[3]</a:t>
                      </a:r>
                    </a:p>
                  </a:txBody>
                  <a:tcPr>
                    <a:solidFill>
                      <a:srgbClr val="FFFFFF"/>
                    </a:solidFill>
                  </a:tcPr>
                </a:tc>
                <a:tc>
                  <a:txBody>
                    <a:bodyPr/>
                    <a:lstStyle/>
                    <a:p>
                      <a:pPr>
                        <a:defRPr sz="950">
                          <a:solidFill>
                            <a:srgbClr val="1F2937"/>
                          </a:solidFill>
                        </a:defRPr>
                      </a:pPr>
                      <a:r>
                        <a:t>Zhang et al. (2024)</a:t>
                      </a:r>
                    </a:p>
                  </a:txBody>
                  <a:tcPr>
                    <a:solidFill>
                      <a:srgbClr val="FFFFFF"/>
                    </a:solidFill>
                  </a:tcPr>
                </a:tc>
                <a:tc>
                  <a:txBody>
                    <a:bodyPr/>
                    <a:lstStyle/>
                    <a:p>
                      <a:pPr>
                        <a:defRPr sz="950">
                          <a:solidFill>
                            <a:srgbClr val="1F2937"/>
                          </a:solidFill>
                        </a:defRPr>
                      </a:pPr>
                      <a:r>
                        <a:t>UNet spatial segmentation of crop disease spots</a:t>
                      </a:r>
                    </a:p>
                  </a:txBody>
                  <a:tcPr>
                    <a:solidFill>
                      <a:srgbClr val="FFFFFF"/>
                    </a:solidFill>
                  </a:tcPr>
                </a:tc>
                <a:tc>
                  <a:txBody>
                    <a:bodyPr/>
                    <a:lstStyle/>
                    <a:p>
                      <a:pPr>
                        <a:defRPr sz="950">
                          <a:solidFill>
                            <a:srgbClr val="1F2937"/>
                          </a:solidFill>
                        </a:defRPr>
                      </a:pPr>
                      <a:r>
                        <a:t>Dice: 86.5%</a:t>
                      </a:r>
                    </a:p>
                  </a:txBody>
                  <a:tcPr>
                    <a:solidFill>
                      <a:srgbClr val="FFFFFF"/>
                    </a:solidFill>
                  </a:tcPr>
                </a:tc>
                <a:tc>
                  <a:txBody>
                    <a:bodyPr/>
                    <a:lstStyle/>
                    <a:p>
                      <a:pPr>
                        <a:defRPr sz="950">
                          <a:solidFill>
                            <a:srgbClr val="1F2937"/>
                          </a:solidFill>
                        </a:defRPr>
                      </a:pPr>
                      <a:r>
                        <a:t>High accuracy lesion segmentation mask</a:t>
                      </a:r>
                    </a:p>
                  </a:txBody>
                  <a:tcPr>
                    <a:solidFill>
                      <a:srgbClr val="FFFFFF"/>
                    </a:solidFill>
                  </a:tcPr>
                </a:tc>
                <a:tc>
                  <a:txBody>
                    <a:bodyPr/>
                    <a:lstStyle/>
                    <a:p>
                      <a:pPr>
                        <a:defRPr sz="950">
                          <a:solidFill>
                            <a:srgbClr val="1F2937"/>
                          </a:solidFill>
                        </a:defRPr>
                      </a:pPr>
                      <a:r>
                        <a:t>Heavy parameters, slow inference (18 FPS)</a:t>
                      </a:r>
                    </a:p>
                  </a:txBody>
                  <a:tcPr>
                    <a:solidFill>
                      <a:srgbClr val="FFFFFF"/>
                    </a:solidFill>
                  </a:tcPr>
                </a:tc>
              </a:tr>
              <a:tr h="465512">
                <a:tc>
                  <a:txBody>
                    <a:bodyPr/>
                    <a:lstStyle/>
                    <a:p>
                      <a:pPr>
                        <a:defRPr sz="950">
                          <a:solidFill>
                            <a:srgbClr val="1F2937"/>
                          </a:solidFill>
                        </a:defRPr>
                      </a:pPr>
                      <a:r>
                        <a:t>[4]</a:t>
                      </a:r>
                    </a:p>
                  </a:txBody>
                  <a:tcPr>
                    <a:solidFill>
                      <a:srgbClr val="F1F5F9"/>
                    </a:solidFill>
                  </a:tcPr>
                </a:tc>
                <a:tc>
                  <a:txBody>
                    <a:bodyPr/>
                    <a:lstStyle/>
                    <a:p>
                      <a:pPr>
                        <a:defRPr sz="950">
                          <a:solidFill>
                            <a:srgbClr val="1F2937"/>
                          </a:solidFill>
                        </a:defRPr>
                      </a:pPr>
                      <a:r>
                        <a:t>Chen et al. (2022)</a:t>
                      </a:r>
                    </a:p>
                  </a:txBody>
                  <a:tcPr>
                    <a:solidFill>
                      <a:srgbClr val="F1F5F9"/>
                    </a:solidFill>
                  </a:tcPr>
                </a:tc>
                <a:tc>
                  <a:txBody>
                    <a:bodyPr/>
                    <a:lstStyle/>
                    <a:p>
                      <a:pPr>
                        <a:defRPr sz="950">
                          <a:solidFill>
                            <a:srgbClr val="1F2937"/>
                          </a:solidFill>
                        </a:defRPr>
                      </a:pPr>
                      <a:r>
                        <a:t>MobileNetV3 for leaf disease classification</a:t>
                      </a:r>
                    </a:p>
                  </a:txBody>
                  <a:tcPr>
                    <a:solidFill>
                      <a:srgbClr val="F1F5F9"/>
                    </a:solidFill>
                  </a:tcPr>
                </a:tc>
                <a:tc>
                  <a:txBody>
                    <a:bodyPr/>
                    <a:lstStyle/>
                    <a:p>
                      <a:pPr>
                        <a:defRPr sz="950">
                          <a:solidFill>
                            <a:srgbClr val="1F2937"/>
                          </a:solidFill>
                        </a:defRPr>
                      </a:pPr>
                      <a:r>
                        <a:t>Acc: 91.8%</a:t>
                      </a:r>
                    </a:p>
                  </a:txBody>
                  <a:tcPr>
                    <a:solidFill>
                      <a:srgbClr val="F1F5F9"/>
                    </a:solidFill>
                  </a:tcPr>
                </a:tc>
                <a:tc>
                  <a:txBody>
                    <a:bodyPr/>
                    <a:lstStyle/>
                    <a:p>
                      <a:pPr>
                        <a:defRPr sz="950">
                          <a:solidFill>
                            <a:srgbClr val="1F2937"/>
                          </a:solidFill>
                        </a:defRPr>
                      </a:pPr>
                      <a:r>
                        <a:t>Lightweight model suitable for mobile</a:t>
                      </a:r>
                    </a:p>
                  </a:txBody>
                  <a:tcPr>
                    <a:solidFill>
                      <a:srgbClr val="F1F5F9"/>
                    </a:solidFill>
                  </a:tcPr>
                </a:tc>
                <a:tc>
                  <a:txBody>
                    <a:bodyPr/>
                    <a:lstStyle/>
                    <a:p>
                      <a:pPr>
                        <a:defRPr sz="950">
                          <a:solidFill>
                            <a:srgbClr val="1F2937"/>
                          </a:solidFill>
                        </a:defRPr>
                      </a:pPr>
                      <a:r>
                        <a:t>High sensitivity to background field clutter</a:t>
                      </a:r>
                    </a:p>
                  </a:txBody>
                  <a:tcPr>
                    <a:solidFill>
                      <a:srgbClr val="F1F5F9"/>
                    </a:solidFill>
                  </a:tcPr>
                </a:tc>
              </a:tr>
              <a:tr h="465512">
                <a:tc>
                  <a:txBody>
                    <a:bodyPr/>
                    <a:lstStyle/>
                    <a:p>
                      <a:pPr>
                        <a:defRPr sz="950">
                          <a:solidFill>
                            <a:srgbClr val="1F2937"/>
                          </a:solidFill>
                        </a:defRPr>
                      </a:pPr>
                      <a:r>
                        <a:t>[5]</a:t>
                      </a:r>
                    </a:p>
                  </a:txBody>
                  <a:tcPr>
                    <a:solidFill>
                      <a:srgbClr val="FFFFFF"/>
                    </a:solidFill>
                  </a:tcPr>
                </a:tc>
                <a:tc>
                  <a:txBody>
                    <a:bodyPr/>
                    <a:lstStyle/>
                    <a:p>
                      <a:pPr>
                        <a:defRPr sz="950">
                          <a:solidFill>
                            <a:srgbClr val="1F2937"/>
                          </a:solidFill>
                        </a:defRPr>
                      </a:pPr>
                      <a:r>
                        <a:t>Kumar et al. (2023)</a:t>
                      </a:r>
                    </a:p>
                  </a:txBody>
                  <a:tcPr>
                    <a:solidFill>
                      <a:srgbClr val="FFFFFF"/>
                    </a:solidFill>
                  </a:tcPr>
                </a:tc>
                <a:tc>
                  <a:txBody>
                    <a:bodyPr/>
                    <a:lstStyle/>
                    <a:p>
                      <a:pPr>
                        <a:defRPr sz="950">
                          <a:solidFill>
                            <a:srgbClr val="1F2937"/>
                          </a:solidFill>
                        </a:defRPr>
                      </a:pPr>
                      <a:r>
                        <a:t>Multi-task CNN for crop detection &amp; diagnosis</a:t>
                      </a:r>
                    </a:p>
                  </a:txBody>
                  <a:tcPr>
                    <a:solidFill>
                      <a:srgbClr val="FFFFFF"/>
                    </a:solidFill>
                  </a:tcPr>
                </a:tc>
                <a:tc>
                  <a:txBody>
                    <a:bodyPr/>
                    <a:lstStyle/>
                    <a:p>
                      <a:pPr>
                        <a:defRPr sz="950">
                          <a:solidFill>
                            <a:srgbClr val="1F2937"/>
                          </a:solidFill>
                        </a:defRPr>
                      </a:pPr>
                      <a:r>
                        <a:t>Acc: 88.7%</a:t>
                      </a:r>
                    </a:p>
                  </a:txBody>
                  <a:tcPr>
                    <a:solidFill>
                      <a:srgbClr val="FFFFFF"/>
                    </a:solidFill>
                  </a:tcPr>
                </a:tc>
                <a:tc>
                  <a:txBody>
                    <a:bodyPr/>
                    <a:lstStyle/>
                    <a:p>
                      <a:pPr>
                        <a:defRPr sz="950">
                          <a:solidFill>
                            <a:srgbClr val="1F2937"/>
                          </a:solidFill>
                        </a:defRPr>
                      </a:pPr>
                      <a:r>
                        <a:t>Joint crop &amp; disease classification</a:t>
                      </a:r>
                    </a:p>
                  </a:txBody>
                  <a:tcPr>
                    <a:solidFill>
                      <a:srgbClr val="FFFFFF"/>
                    </a:solidFill>
                  </a:tcPr>
                </a:tc>
                <a:tc>
                  <a:txBody>
                    <a:bodyPr/>
                    <a:lstStyle/>
                    <a:p>
                      <a:pPr>
                        <a:defRPr sz="950">
                          <a:solidFill>
                            <a:srgbClr val="1F2937"/>
                          </a:solidFill>
                        </a:defRPr>
                      </a:pPr>
                      <a:r>
                        <a:t>Fixed equal task weights, sub-optimal loss</a:t>
                      </a:r>
                    </a:p>
                  </a:txBody>
                  <a:tcPr>
                    <a:solidFill>
                      <a:srgbClr val="FFFFFF"/>
                    </a:solidFill>
                  </a:tcPr>
                </a:tc>
              </a:tr>
              <a:tr h="465512">
                <a:tc>
                  <a:txBody>
                    <a:bodyPr/>
                    <a:lstStyle/>
                    <a:p>
                      <a:pPr>
                        <a:defRPr sz="950">
                          <a:solidFill>
                            <a:srgbClr val="1F2937"/>
                          </a:solidFill>
                        </a:defRPr>
                      </a:pPr>
                      <a:r>
                        <a:t>[6]</a:t>
                      </a:r>
                    </a:p>
                  </a:txBody>
                  <a:tcPr>
                    <a:solidFill>
                      <a:srgbClr val="F1F5F9"/>
                    </a:solidFill>
                  </a:tcPr>
                </a:tc>
                <a:tc>
                  <a:txBody>
                    <a:bodyPr/>
                    <a:lstStyle/>
                    <a:p>
                      <a:pPr>
                        <a:defRPr sz="950">
                          <a:solidFill>
                            <a:srgbClr val="1F2937"/>
                          </a:solidFill>
                        </a:defRPr>
                      </a:pPr>
                      <a:r>
                        <a:t>Patel et al. (2025)</a:t>
                      </a:r>
                    </a:p>
                  </a:txBody>
                  <a:tcPr>
                    <a:solidFill>
                      <a:srgbClr val="F1F5F9"/>
                    </a:solidFill>
                  </a:tcPr>
                </a:tc>
                <a:tc>
                  <a:txBody>
                    <a:bodyPr/>
                    <a:lstStyle/>
                    <a:p>
                      <a:pPr>
                        <a:defRPr sz="950">
                          <a:solidFill>
                            <a:srgbClr val="1F2937"/>
                          </a:solidFill>
                        </a:defRPr>
                      </a:pPr>
                      <a:r>
                        <a:t>YOLOv7-Tiny + CBAM for early lesion spotting</a:t>
                      </a:r>
                    </a:p>
                  </a:txBody>
                  <a:tcPr>
                    <a:solidFill>
                      <a:srgbClr val="F1F5F9"/>
                    </a:solidFill>
                  </a:tcPr>
                </a:tc>
                <a:tc>
                  <a:txBody>
                    <a:bodyPr/>
                    <a:lstStyle/>
                    <a:p>
                      <a:pPr>
                        <a:defRPr sz="950">
                          <a:solidFill>
                            <a:srgbClr val="1F2937"/>
                          </a:solidFill>
                        </a:defRPr>
                      </a:pPr>
                      <a:r>
                        <a:t>mAP50: 87.1%</a:t>
                      </a:r>
                    </a:p>
                  </a:txBody>
                  <a:tcPr>
                    <a:solidFill>
                      <a:srgbClr val="F1F5F9"/>
                    </a:solidFill>
                  </a:tcPr>
                </a:tc>
                <a:tc>
                  <a:txBody>
                    <a:bodyPr/>
                    <a:lstStyle/>
                    <a:p>
                      <a:pPr>
                        <a:defRPr sz="950">
                          <a:solidFill>
                            <a:srgbClr val="1F2937"/>
                          </a:solidFill>
                        </a:defRPr>
                      </a:pPr>
                      <a:r>
                        <a:t>Good attention focus on small lesions</a:t>
                      </a:r>
                    </a:p>
                  </a:txBody>
                  <a:tcPr>
                    <a:solidFill>
                      <a:srgbClr val="F1F5F9"/>
                    </a:solidFill>
                  </a:tcPr>
                </a:tc>
                <a:tc>
                  <a:txBody>
                    <a:bodyPr/>
                    <a:lstStyle/>
                    <a:p>
                      <a:pPr>
                        <a:defRPr sz="950">
                          <a:solidFill>
                            <a:srgbClr val="1F2937"/>
                          </a:solidFill>
                        </a:defRPr>
                      </a:pPr>
                      <a:r>
                        <a:t>Does not calculate infection severity ratio</a:t>
                      </a:r>
                    </a:p>
                  </a:txBody>
                  <a:tcPr>
                    <a:solidFill>
                      <a:srgbClr val="F1F5F9"/>
                    </a:solidFill>
                  </a:tcPr>
                </a:tc>
              </a:tr>
              <a:tr h="465512">
                <a:tc>
                  <a:txBody>
                    <a:bodyPr/>
                    <a:lstStyle/>
                    <a:p>
                      <a:pPr>
                        <a:defRPr sz="950">
                          <a:solidFill>
                            <a:srgbClr val="1F2937"/>
                          </a:solidFill>
                        </a:defRPr>
                      </a:pPr>
                      <a:r>
                        <a:t>[7]</a:t>
                      </a:r>
                    </a:p>
                  </a:txBody>
                  <a:tcPr>
                    <a:solidFill>
                      <a:srgbClr val="FFFFFF"/>
                    </a:solidFill>
                  </a:tcPr>
                </a:tc>
                <a:tc>
                  <a:txBody>
                    <a:bodyPr/>
                    <a:lstStyle/>
                    <a:p>
                      <a:pPr>
                        <a:defRPr sz="950">
                          <a:solidFill>
                            <a:srgbClr val="1F2937"/>
                          </a:solidFill>
                        </a:defRPr>
                      </a:pPr>
                      <a:r>
                        <a:t>Zhao et al. (2023)</a:t>
                      </a:r>
                    </a:p>
                  </a:txBody>
                  <a:tcPr>
                    <a:solidFill>
                      <a:srgbClr val="FFFFFF"/>
                    </a:solidFill>
                  </a:tcPr>
                </a:tc>
                <a:tc>
                  <a:txBody>
                    <a:bodyPr/>
                    <a:lstStyle/>
                    <a:p>
                      <a:pPr>
                        <a:defRPr sz="950">
                          <a:solidFill>
                            <a:srgbClr val="1F2937"/>
                          </a:solidFill>
                        </a:defRPr>
                      </a:pPr>
                      <a:r>
                        <a:t>Vision Transformer (ViT) for leaf blights</a:t>
                      </a:r>
                    </a:p>
                  </a:txBody>
                  <a:tcPr>
                    <a:solidFill>
                      <a:srgbClr val="FFFFFF"/>
                    </a:solidFill>
                  </a:tcPr>
                </a:tc>
                <a:tc>
                  <a:txBody>
                    <a:bodyPr/>
                    <a:lstStyle/>
                    <a:p>
                      <a:pPr>
                        <a:defRPr sz="950">
                          <a:solidFill>
                            <a:srgbClr val="1F2937"/>
                          </a:solidFill>
                        </a:defRPr>
                      </a:pPr>
                      <a:r>
                        <a:t>Acc: 95.1%</a:t>
                      </a:r>
                    </a:p>
                  </a:txBody>
                  <a:tcPr>
                    <a:solidFill>
                      <a:srgbClr val="FFFFFF"/>
                    </a:solidFill>
                  </a:tcPr>
                </a:tc>
                <a:tc>
                  <a:txBody>
                    <a:bodyPr/>
                    <a:lstStyle/>
                    <a:p>
                      <a:pPr>
                        <a:defRPr sz="950">
                          <a:solidFill>
                            <a:srgbClr val="1F2937"/>
                          </a:solidFill>
                        </a:defRPr>
                      </a:pPr>
                      <a:r>
                        <a:t>High classification accuracy on clean datasets</a:t>
                      </a:r>
                    </a:p>
                  </a:txBody>
                  <a:tcPr>
                    <a:solidFill>
                      <a:srgbClr val="FFFFFF"/>
                    </a:solidFill>
                  </a:tcPr>
                </a:tc>
                <a:tc>
                  <a:txBody>
                    <a:bodyPr/>
                    <a:lstStyle/>
                    <a:p>
                      <a:pPr>
                        <a:defRPr sz="950">
                          <a:solidFill>
                            <a:srgbClr val="1F2937"/>
                          </a:solidFill>
                        </a:defRPr>
                      </a:pPr>
                      <a:r>
                        <a:t>Requires huge data, poor real-time speed</a:t>
                      </a:r>
                    </a:p>
                  </a:txBody>
                  <a:tcPr>
                    <a:solidFill>
                      <a:srgbClr val="FFFFFF"/>
                    </a:solidFill>
                  </a:tcPr>
                </a:tc>
              </a:tr>
              <a:tr h="465512">
                <a:tc>
                  <a:txBody>
                    <a:bodyPr/>
                    <a:lstStyle/>
                    <a:p>
                      <a:pPr>
                        <a:defRPr sz="950">
                          <a:solidFill>
                            <a:srgbClr val="1F2937"/>
                          </a:solidFill>
                        </a:defRPr>
                      </a:pPr>
                      <a:r>
                        <a:t>[8]</a:t>
                      </a:r>
                    </a:p>
                  </a:txBody>
                  <a:tcPr>
                    <a:solidFill>
                      <a:srgbClr val="F1F5F9"/>
                    </a:solidFill>
                  </a:tcPr>
                </a:tc>
                <a:tc>
                  <a:txBody>
                    <a:bodyPr/>
                    <a:lstStyle/>
                    <a:p>
                      <a:pPr>
                        <a:defRPr sz="950">
                          <a:solidFill>
                            <a:srgbClr val="1F2937"/>
                          </a:solidFill>
                        </a:defRPr>
                      </a:pPr>
                      <a:r>
                        <a:t>Singh et al. (2024)</a:t>
                      </a:r>
                    </a:p>
                  </a:txBody>
                  <a:tcPr>
                    <a:solidFill>
                      <a:srgbClr val="F1F5F9"/>
                    </a:solidFill>
                  </a:tcPr>
                </a:tc>
                <a:tc>
                  <a:txBody>
                    <a:bodyPr/>
                    <a:lstStyle/>
                    <a:p>
                      <a:pPr>
                        <a:defRPr sz="950">
                          <a:solidFill>
                            <a:srgbClr val="1F2937"/>
                          </a:solidFill>
                        </a:defRPr>
                      </a:pPr>
                      <a:r>
                        <a:t>DeepLabv3+ for crop leaf spot segmentation</a:t>
                      </a:r>
                    </a:p>
                  </a:txBody>
                  <a:tcPr>
                    <a:solidFill>
                      <a:srgbClr val="F1F5F9"/>
                    </a:solidFill>
                  </a:tcPr>
                </a:tc>
                <a:tc>
                  <a:txBody>
                    <a:bodyPr/>
                    <a:lstStyle/>
                    <a:p>
                      <a:pPr>
                        <a:defRPr sz="950">
                          <a:solidFill>
                            <a:srgbClr val="1F2937"/>
                          </a:solidFill>
                        </a:defRPr>
                      </a:pPr>
                      <a:r>
                        <a:t>mIoU: 81.2%</a:t>
                      </a:r>
                    </a:p>
                  </a:txBody>
                  <a:tcPr>
                    <a:solidFill>
                      <a:srgbClr val="F1F5F9"/>
                    </a:solidFill>
                  </a:tcPr>
                </a:tc>
                <a:tc>
                  <a:txBody>
                    <a:bodyPr/>
                    <a:lstStyle/>
                    <a:p>
                      <a:pPr>
                        <a:defRPr sz="950">
                          <a:solidFill>
                            <a:srgbClr val="1F2937"/>
                          </a:solidFill>
                        </a:defRPr>
                      </a:pPr>
                      <a:r>
                        <a:t>Accurate multi-class lesion segmentation</a:t>
                      </a:r>
                    </a:p>
                  </a:txBody>
                  <a:tcPr>
                    <a:solidFill>
                      <a:srgbClr val="F1F5F9"/>
                    </a:solidFill>
                  </a:tcPr>
                </a:tc>
                <a:tc>
                  <a:txBody>
                    <a:bodyPr/>
                    <a:lstStyle/>
                    <a:p>
                      <a:pPr>
                        <a:defRPr sz="950">
                          <a:solidFill>
                            <a:srgbClr val="1F2937"/>
                          </a:solidFill>
                        </a:defRPr>
                      </a:pPr>
                      <a:r>
                        <a:t>No multi-crop feature adaptation mechanism</a:t>
                      </a:r>
                    </a:p>
                  </a:txBody>
                  <a:tcPr>
                    <a:solidFill>
                      <a:srgbClr val="F1F5F9"/>
                    </a:solidFill>
                  </a:tcPr>
                </a:tc>
              </a:tr>
              <a:tr h="465512">
                <a:tc>
                  <a:txBody>
                    <a:bodyPr/>
                    <a:lstStyle/>
                    <a:p>
                      <a:pPr>
                        <a:defRPr sz="950">
                          <a:solidFill>
                            <a:srgbClr val="1F2937"/>
                          </a:solidFill>
                        </a:defRPr>
                      </a:pPr>
                      <a:r>
                        <a:t>[9]</a:t>
                      </a:r>
                    </a:p>
                  </a:txBody>
                  <a:tcPr>
                    <a:solidFill>
                      <a:srgbClr val="FFFFFF"/>
                    </a:solidFill>
                  </a:tcPr>
                </a:tc>
                <a:tc>
                  <a:txBody>
                    <a:bodyPr/>
                    <a:lstStyle/>
                    <a:p>
                      <a:pPr>
                        <a:defRPr sz="950">
                          <a:solidFill>
                            <a:srgbClr val="1F2937"/>
                          </a:solidFill>
                        </a:defRPr>
                      </a:pPr>
                      <a:r>
                        <a:t>Liu et al. (2022)</a:t>
                      </a:r>
                    </a:p>
                  </a:txBody>
                  <a:tcPr>
                    <a:solidFill>
                      <a:srgbClr val="FFFFFF"/>
                    </a:solidFill>
                  </a:tcPr>
                </a:tc>
                <a:tc>
                  <a:txBody>
                    <a:bodyPr/>
                    <a:lstStyle/>
                    <a:p>
                      <a:pPr>
                        <a:defRPr sz="950">
                          <a:solidFill>
                            <a:srgbClr val="1F2937"/>
                          </a:solidFill>
                        </a:defRPr>
                      </a:pPr>
                      <a:r>
                        <a:t>Grad-CAM explainable CNN for crop leaves</a:t>
                      </a:r>
                    </a:p>
                  </a:txBody>
                  <a:tcPr>
                    <a:solidFill>
                      <a:srgbClr val="FFFFFF"/>
                    </a:solidFill>
                  </a:tcPr>
                </a:tc>
                <a:tc>
                  <a:txBody>
                    <a:bodyPr/>
                    <a:lstStyle/>
                    <a:p>
                      <a:pPr>
                        <a:defRPr sz="950">
                          <a:solidFill>
                            <a:srgbClr val="1F2937"/>
                          </a:solidFill>
                        </a:defRPr>
                      </a:pPr>
                      <a:r>
                        <a:t>Acc: 90.3%</a:t>
                      </a:r>
                    </a:p>
                  </a:txBody>
                  <a:tcPr>
                    <a:solidFill>
                      <a:srgbClr val="FFFFFF"/>
                    </a:solidFill>
                  </a:tcPr>
                </a:tc>
                <a:tc>
                  <a:txBody>
                    <a:bodyPr/>
                    <a:lstStyle/>
                    <a:p>
                      <a:pPr>
                        <a:defRPr sz="950">
                          <a:solidFill>
                            <a:srgbClr val="1F2937"/>
                          </a:solidFill>
                        </a:defRPr>
                      </a:pPr>
                      <a:r>
                        <a:t>Provides visual attention heatmaps</a:t>
                      </a:r>
                    </a:p>
                  </a:txBody>
                  <a:tcPr>
                    <a:solidFill>
                      <a:srgbClr val="FFFFFF"/>
                    </a:solidFill>
                  </a:tcPr>
                </a:tc>
                <a:tc>
                  <a:txBody>
                    <a:bodyPr/>
                    <a:lstStyle/>
                    <a:p>
                      <a:pPr>
                        <a:defRPr sz="950">
                          <a:solidFill>
                            <a:srgbClr val="1F2937"/>
                          </a:solidFill>
                        </a:defRPr>
                      </a:pPr>
                      <a:r>
                        <a:t>Classification only, no multi-task heads</a:t>
                      </a:r>
                    </a:p>
                  </a:txBody>
                  <a:tcPr>
                    <a:solidFill>
                      <a:srgbClr val="FFFFFF"/>
                    </a:solidFill>
                  </a:tcPr>
                </a:tc>
              </a:tr>
              <a:tr h="465520">
                <a:tc>
                  <a:txBody>
                    <a:bodyPr/>
                    <a:lstStyle/>
                    <a:p>
                      <a:pPr>
                        <a:defRPr sz="950">
                          <a:solidFill>
                            <a:srgbClr val="1F2937"/>
                          </a:solidFill>
                        </a:defRPr>
                      </a:pPr>
                      <a:r>
                        <a:t>[10]</a:t>
                      </a:r>
                    </a:p>
                  </a:txBody>
                  <a:tcPr>
                    <a:solidFill>
                      <a:srgbClr val="F1F5F9"/>
                    </a:solidFill>
                  </a:tcPr>
                </a:tc>
                <a:tc>
                  <a:txBody>
                    <a:bodyPr/>
                    <a:lstStyle/>
                    <a:p>
                      <a:pPr>
                        <a:defRPr sz="950">
                          <a:solidFill>
                            <a:srgbClr val="1F2937"/>
                          </a:solidFill>
                        </a:defRPr>
                      </a:pPr>
                      <a:r>
                        <a:t>Sun et al. (2024)</a:t>
                      </a:r>
                    </a:p>
                  </a:txBody>
                  <a:tcPr>
                    <a:solidFill>
                      <a:srgbClr val="F1F5F9"/>
                    </a:solidFill>
                  </a:tcPr>
                </a:tc>
                <a:tc>
                  <a:txBody>
                    <a:bodyPr/>
                    <a:lstStyle/>
                    <a:p>
                      <a:pPr>
                        <a:defRPr sz="950">
                          <a:solidFill>
                            <a:srgbClr val="1F2937"/>
                          </a:solidFill>
                        </a:defRPr>
                      </a:pPr>
                      <a:r>
                        <a:t>Adaptive loss weighted multi-task agricultural model</a:t>
                      </a:r>
                    </a:p>
                  </a:txBody>
                  <a:tcPr>
                    <a:solidFill>
                      <a:srgbClr val="F1F5F9"/>
                    </a:solidFill>
                  </a:tcPr>
                </a:tc>
                <a:tc>
                  <a:txBody>
                    <a:bodyPr/>
                    <a:lstStyle/>
                    <a:p>
                      <a:pPr>
                        <a:defRPr sz="950">
                          <a:solidFill>
                            <a:srgbClr val="1F2937"/>
                          </a:solidFill>
                        </a:defRPr>
                      </a:pPr>
                      <a:r>
                        <a:t>mAP: 86.9%</a:t>
                      </a:r>
                    </a:p>
                  </a:txBody>
                  <a:tcPr>
                    <a:solidFill>
                      <a:srgbClr val="F1F5F9"/>
                    </a:solidFill>
                  </a:tcPr>
                </a:tc>
                <a:tc>
                  <a:txBody>
                    <a:bodyPr/>
                    <a:lstStyle/>
                    <a:p>
                      <a:pPr>
                        <a:defRPr sz="950">
                          <a:solidFill>
                            <a:srgbClr val="1F2937"/>
                          </a:solidFill>
                        </a:defRPr>
                      </a:pPr>
                      <a:r>
                        <a:t>Uncertainty loss balancing improves tasks</a:t>
                      </a:r>
                    </a:p>
                  </a:txBody>
                  <a:tcPr>
                    <a:solidFill>
                      <a:srgbClr val="F1F5F9"/>
                    </a:solidFill>
                  </a:tcPr>
                </a:tc>
                <a:tc>
                  <a:txBody>
                    <a:bodyPr/>
                    <a:lstStyle/>
                    <a:p>
                      <a:pPr>
                        <a:defRPr sz="950">
                          <a:solidFill>
                            <a:srgbClr val="1F2937"/>
                          </a:solidFill>
                        </a:defRPr>
                      </a:pPr>
                      <a:r>
                        <a:t>Single crop focus, lacks cross-crop adaptation</a:t>
                      </a:r>
                    </a:p>
                  </a:txBody>
                  <a:tcPr>
                    <a:solidFill>
                      <a:srgbClr val="F1F5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5. Literature Summary &amp; Research Gaps</a:t>
            </a:r>
          </a:p>
          <a:p>
            <a:pPr>
              <a:spcBef>
                <a:spcPts val="300"/>
              </a:spcBef>
              <a:defRPr sz="1300">
                <a:solidFill>
                  <a:srgbClr val="6B7280"/>
                </a:solidFill>
              </a:defRPr>
            </a:pPr>
            <a:r>
              <a:t>Synthesis of Prior Work &amp; Identified Limitations</a:t>
            </a:r>
          </a:p>
        </p:txBody>
      </p:sp>
      <p:sp>
        <p:nvSpPr>
          <p:cNvPr id="3" name="Rounded Rectangle 2"/>
          <p:cNvSpPr/>
          <p:nvPr/>
        </p:nvSpPr>
        <p:spPr>
          <a:xfrm>
            <a:off x="731520" y="1371600"/>
            <a:ext cx="10728655" cy="164592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400">
                <a:solidFill>
                  <a:srgbClr val="1E3A8A"/>
                </a:solidFill>
              </a:defRPr>
            </a:pPr>
            <a:r>
              <a:t>Summary of Literature Study:</a:t>
            </a:r>
          </a:p>
          <a:p>
            <a:pPr>
              <a:spcBef>
                <a:spcPts val="400"/>
              </a:spcBef>
              <a:defRPr sz="1150">
                <a:solidFill>
                  <a:srgbClr val="1F2937"/>
                </a:solidFill>
              </a:defRPr>
            </a:pPr>
            <a:r>
              <a:t>Prior agricultural computer vision literature predominantly focuses on isolated single-task models—either whole-image classification or bounding box detection—which suffer when applied to field images with small lesions, irregular boundaries, or domain shifts. While recent attention mechanisms (ECA, CBAM) and segmentation backbones (UNet, DeepLabv3+) improve feature localization, they lack crop-aware feature adaptation mechanisms, resulting in severe performance drops across different plant species.</a:t>
            </a:r>
          </a:p>
        </p:txBody>
      </p:sp>
      <p:sp>
        <p:nvSpPr>
          <p:cNvPr id="4" name="Rounded Rectangle 3"/>
          <p:cNvSpPr/>
          <p:nvPr/>
        </p:nvSpPr>
        <p:spPr>
          <a:xfrm>
            <a:off x="731520" y="3200400"/>
            <a:ext cx="10728655" cy="31089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400">
                <a:solidFill>
                  <a:srgbClr val="10B981"/>
                </a:solidFill>
              </a:defRPr>
            </a:pPr>
            <a:r>
              <a:t>Identified Research Gaps in Existing Methodologies:</a:t>
            </a:r>
          </a:p>
          <a:p>
            <a:pPr>
              <a:spcBef>
                <a:spcPts val="400"/>
              </a:spcBef>
              <a:defRPr sz="1150">
                <a:solidFill>
                  <a:srgbClr val="1F2937"/>
                </a:solidFill>
              </a:defRPr>
            </a:pPr>
            <a:r>
              <a:t>• Gap 1: Absence of Crop-Aware Adaptation — Existing networks treat all crop species identically, ignoring plant-specific visual contexts.</a:t>
            </a:r>
          </a:p>
          <a:p>
            <a:pPr>
              <a:spcBef>
                <a:spcPts val="400"/>
              </a:spcBef>
              <a:defRPr sz="1150">
                <a:solidFill>
                  <a:srgbClr val="1F2937"/>
                </a:solidFill>
              </a:defRPr>
            </a:pPr>
            <a:r>
              <a:t>• Gap 2: Disconnect Between Tasks — Classification heads rely on whole images rather than predicted lesion segmentation mask ROIs P(D | I, M).</a:t>
            </a:r>
          </a:p>
          <a:p>
            <a:pPr>
              <a:spcBef>
                <a:spcPts val="400"/>
              </a:spcBef>
              <a:defRPr sz="1150">
                <a:solidFill>
                  <a:srgbClr val="1F2937"/>
                </a:solidFill>
              </a:defRPr>
            </a:pPr>
            <a:r>
              <a:t>• Gap 3: Failure on Small &amp; Irregular Lesions — Single-scale convolutions miss early-stage tiny lesion spots and irregular borders.</a:t>
            </a:r>
          </a:p>
          <a:p>
            <a:pPr>
              <a:spcBef>
                <a:spcPts val="400"/>
              </a:spcBef>
              <a:defRPr sz="1150">
                <a:solidFill>
                  <a:srgbClr val="1F2937"/>
                </a:solidFill>
              </a:defRPr>
            </a:pPr>
            <a:r>
              <a:t>• Gap 4: Manual Loss Balancing — Static task weights in multi-task networks lead to gradient dominance by easier tasks.</a:t>
            </a:r>
          </a:p>
          <a:p>
            <a:pPr>
              <a:spcBef>
                <a:spcPts val="400"/>
              </a:spcBef>
              <a:defRPr sz="1150">
                <a:solidFill>
                  <a:srgbClr val="1F2937"/>
                </a:solidFill>
              </a:defRPr>
            </a:pPr>
            <a:r>
              <a:t>• Gap 5: Absence of Integrated Severity &amp; Explainability — Lack of unified tools providing severity % alongside Grad-CAM heatmaps.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6. Problem Formulation</a:t>
            </a:r>
          </a:p>
          <a:p>
            <a:pPr>
              <a:spcBef>
                <a:spcPts val="300"/>
              </a:spcBef>
              <a:defRPr sz="1300">
                <a:solidFill>
                  <a:srgbClr val="6B7280"/>
                </a:solidFill>
              </a:defRPr>
            </a:pPr>
            <a:r>
              <a:t>Mathematical Definition of Multi-Crop Multi-Task Learning</a:t>
            </a:r>
          </a:p>
        </p:txBody>
      </p:sp>
      <p:sp>
        <p:nvSpPr>
          <p:cNvPr id="3" name="Rounded Rectangle 2"/>
          <p:cNvSpPr/>
          <p:nvPr/>
        </p:nvSpPr>
        <p:spPr>
          <a:xfrm>
            <a:off x="731520" y="1371600"/>
            <a:ext cx="10728655" cy="4937760"/>
          </a:xfrm>
          <a:prstGeom prst="roundRect">
            <a:avLst/>
          </a:prstGeom>
          <a:solidFill>
            <a:srgbClr val="FFFF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1E3A8A"/>
                </a:solidFill>
              </a:defRPr>
            </a:pPr>
            <a:r>
              <a:t>Mathematical Problem Formulation:</a:t>
            </a:r>
          </a:p>
          <a:p>
            <a:pPr>
              <a:spcBef>
                <a:spcPts val="800"/>
              </a:spcBef>
              <a:defRPr sz="1350">
                <a:solidFill>
                  <a:srgbClr val="1F2937"/>
                </a:solidFill>
              </a:defRPr>
            </a:pPr>
            <a:r>
              <a:t>Given an input agricultural leaf image I ∈ R^(H × W × 3), learn a parameterized joint mapping function f_θ(I) that simultaneously outputs:</a:t>
            </a:r>
          </a:p>
          <a:p>
            <a:pPr>
              <a:spcBef>
                <a:spcPts val="600"/>
              </a:spcBef>
              <a:defRPr b="1" sz="1300">
                <a:solidFill>
                  <a:srgbClr val="3B82F6"/>
                </a:solidFill>
              </a:defRPr>
            </a:pPr>
            <a:r>
              <a:t>• 1. Crop Species Probability: P(C | I) ∈ R^(N_crops)</a:t>
            </a:r>
          </a:p>
          <a:p>
            <a:pPr>
              <a:spcBef>
                <a:spcPts val="600"/>
              </a:spcBef>
              <a:defRPr b="1" sz="1300">
                <a:solidFill>
                  <a:srgbClr val="3B82F6"/>
                </a:solidFill>
              </a:defRPr>
            </a:pPr>
            <a:r>
              <a:t>• 2. Lesion Bounding Boxes: B = { (x_i, y_i, w_i, h_i, conf_i, class_i) }</a:t>
            </a:r>
          </a:p>
          <a:p>
            <a:pPr>
              <a:spcBef>
                <a:spcPts val="600"/>
              </a:spcBef>
              <a:defRPr b="1" sz="1300">
                <a:solidFill>
                  <a:srgbClr val="3B82F6"/>
                </a:solidFill>
              </a:defRPr>
            </a:pPr>
            <a:r>
              <a:t>• 3. Pixel-Wise Disease Segmentation Mask: M ∈ R^(H × W × 1), where M(x, y) ∈ [0, 1]</a:t>
            </a:r>
          </a:p>
          <a:p>
            <a:pPr>
              <a:spcBef>
                <a:spcPts val="600"/>
              </a:spcBef>
              <a:defRPr b="1" sz="1300">
                <a:solidFill>
                  <a:srgbClr val="3B82F6"/>
                </a:solidFill>
              </a:defRPr>
            </a:pPr>
            <a:r>
              <a:t>• 4. Mask-Conditioned Disease Category: P(D | I, M) ∈ R^(N_diseases)</a:t>
            </a:r>
          </a:p>
          <a:p>
            <a:pPr>
              <a:spcBef>
                <a:spcPts val="600"/>
              </a:spcBef>
              <a:defRPr b="1" sz="1300">
                <a:solidFill>
                  <a:srgbClr val="3B82F6"/>
                </a:solidFill>
              </a:defRPr>
            </a:pPr>
            <a:r>
              <a:t>• 5. Infection Severity Index: S_ratio = (Σ M(x, y) / Area_leaf) × 100%  and  S_stage ∈ {Healthy, Mild, Moderate, Severe}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7. Proposed Methodology &amp; Architecture</a:t>
            </a:r>
          </a:p>
          <a:p>
            <a:pPr>
              <a:spcBef>
                <a:spcPts val="300"/>
              </a:spcBef>
              <a:defRPr sz="1300">
                <a:solidFill>
                  <a:srgbClr val="6B7280"/>
                </a:solidFill>
              </a:defRPr>
            </a:pPr>
            <a:r>
              <a:t>YOLOv13-based Multi-Task Attention Network Architecture</a:t>
            </a:r>
          </a:p>
        </p:txBody>
      </p:sp>
      <p:sp>
        <p:nvSpPr>
          <p:cNvPr id="3" name="Rounded Rectangle 2"/>
          <p:cNvSpPr/>
          <p:nvPr/>
        </p:nvSpPr>
        <p:spPr>
          <a:xfrm>
            <a:off x="731520" y="1371600"/>
            <a:ext cx="10728655" cy="493776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600">
                <a:solidFill>
                  <a:srgbClr val="10B981"/>
                </a:solidFill>
              </a:defRPr>
            </a:pPr>
            <a:r>
              <a:t>Architecture Block Diagram:</a:t>
            </a:r>
          </a:p>
          <a:p>
            <a:pPr>
              <a:spcBef>
                <a:spcPts val="600"/>
              </a:spcBef>
              <a:defRPr sz="850">
                <a:solidFill>
                  <a:srgbClr val="1F2937"/>
                </a:solidFill>
                <a:latin typeface="Consolas"/>
              </a:defRPr>
            </a:pPr>
            <a:r>
              <a:t>                                  +-------------------------------+</a:t>
            </a:r>
            <a:br/>
            <a:r>
              <a:t>                                  |       Input Image (I)         |</a:t>
            </a:r>
            <a:br/>
            <a:r>
              <a:t>                                  +---------------+---------------+</a:t>
            </a:r>
            <a:br/>
            <a:r>
              <a:t>                                                  |</a:t>
            </a:r>
            <a:br/>
            <a:r>
              <a:t>                                 +----------------+----------------+</a:t>
            </a:r>
            <a:br/>
            <a:r>
              <a:t>                                 |     YOLOv13 Shared Backbone     |</a:t>
            </a:r>
            <a:br/>
            <a:r>
              <a:t>                                 |      with CAMSA Modules         |</a:t>
            </a:r>
            <a:br/>
            <a:r>
              <a:t>                                 +────────────────+----------------+</a:t>
            </a:r>
            <a:br/>
            <a:r>
              <a:t>                                                  |</a:t>
            </a:r>
            <a:br/>
            <a:r>
              <a:t>                                                  +------------------------+</a:t>
            </a:r>
            <a:br/>
            <a:r>
              <a:t>                                                  |                        |</a:t>
            </a:r>
            <a:br/>
            <a:r>
              <a:t>                                     +────────────v────────────+  +────────v───────+</a:t>
            </a:r>
            <a:br/>
            <a:r>
              <a:t>                                     | Crop Classification Head|  | Multi-Scale    |</a:t>
            </a:r>
            <a:br/>
            <a:r>
              <a:t>                                     +────────────┬────────────+  | Visual Features|</a:t>
            </a:r>
            <a:br/>
            <a:r>
              <a:t>                                                  | Crop Embedding (C)     |(F = P3,P4,P5)  |</a:t>
            </a:r>
            <a:br/>
            <a:r>
              <a:t>                                                  v               +────────┬───────+</a:t>
            </a:r>
            <a:br/>
            <a:r>
              <a:t>                                     +────────────────────────────────────v+</a:t>
            </a:r>
            <a:br/>
            <a:r>
              <a:t>                                     | Crop-Aware Feature Adaptation (CAFA)|</a:t>
            </a:r>
            <a:br/>
            <a:r>
              <a:t>                                     |      F_adapted = F (x) A(F, C)      |</a:t>
            </a:r>
            <a:br/>
            <a:r>
              <a:t>                                     +────────────────────┬────────────────+</a:t>
            </a:r>
            <a:br/>
            <a:r>
              <a:t>                                                          |</a:t>
            </a:r>
            <a:br/>
            <a:r>
              <a:t>                               +──────────────────────────+──────────────────────────+</a:t>
            </a:r>
            <a:br/>
            <a:r>
              <a:t>                               v                          v                          v</a:t>
            </a:r>
            <a:br/>
            <a:r>
              <a:t>                     +──────────────────+       +──────────────────+       +──────────────────+</a:t>
            </a:r>
            <a:br/>
            <a:r>
              <a:t>                     | Bounding Box     |       | Lesion           |       | Mask-Conditioned |</a:t>
            </a:r>
            <a:br/>
            <a:r>
              <a:t>                     | Detection Head   |       | Segmentation Head|       | Disease Classifier|</a:t>
            </a:r>
            <a:br/>
            <a:r>
              <a:t>                     +──────────────────+       +─────────┬────────+       +─────────┬────────+</a:t>
            </a:r>
            <a:br/>
            <a:r>
              <a:t>                                                          |                          |</a:t>
            </a:r>
            <a:br/>
            <a:r>
              <a:t>                                                          +────────────┬─────────────+</a:t>
            </a:r>
            <a:br/>
            <a:r>
              <a:t>                                                                       v</a:t>
            </a:r>
            <a:br/>
            <a:r>
              <a:t>                                                          +──────────────────────────+</a:t>
            </a:r>
            <a:br/>
            <a:r>
              <a:t>                                                          | Severity Estimator Engine|</a:t>
            </a:r>
            <a:br/>
            <a:r>
              <a:t>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8. Mathematical Models &amp; Equations</a:t>
            </a:r>
          </a:p>
          <a:p>
            <a:pPr>
              <a:spcBef>
                <a:spcPts val="300"/>
              </a:spcBef>
              <a:defRPr sz="1300">
                <a:solidFill>
                  <a:srgbClr val="6B7280"/>
                </a:solidFill>
              </a:defRPr>
            </a:pPr>
            <a:r>
              <a:t>CAMSA, CAFA &amp; Uncertainty Loss Parameters</a:t>
            </a:r>
          </a:p>
        </p:txBody>
      </p:sp>
      <p:sp>
        <p:nvSpPr>
          <p:cNvPr id="3" name="Rounded Rectangle 2"/>
          <p:cNvSpPr/>
          <p:nvPr/>
        </p:nvSpPr>
        <p:spPr>
          <a:xfrm>
            <a:off x="731520" y="137160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1. CAMSA Feature Aggregation</a:t>
            </a:r>
          </a:p>
          <a:p>
            <a:pPr>
              <a:spcBef>
                <a:spcPts val="300"/>
              </a:spcBef>
              <a:defRPr b="1" sz="1300">
                <a:solidFill>
                  <a:srgbClr val="3B82F6"/>
                </a:solidFill>
              </a:defRPr>
            </a:pPr>
            <a:r>
              <a:t>F_enhanced = Conv1x1( Concat( Spatial(X), ECA(X), MultiScale(X) ) ) + α · X</a:t>
            </a:r>
          </a:p>
        </p:txBody>
      </p:sp>
      <p:sp>
        <p:nvSpPr>
          <p:cNvPr id="4" name="Rounded Rectangle 3"/>
          <p:cNvSpPr/>
          <p:nvPr/>
        </p:nvSpPr>
        <p:spPr>
          <a:xfrm>
            <a:off x="731520" y="237744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2. CAFA Crop-Conditioned Attention</a:t>
            </a:r>
          </a:p>
          <a:p>
            <a:pPr>
              <a:spcBef>
                <a:spcPts val="300"/>
              </a:spcBef>
              <a:defRPr b="1" sz="1300">
                <a:solidFill>
                  <a:srgbClr val="3B82F6"/>
                </a:solidFill>
              </a:defRPr>
            </a:pPr>
            <a:r>
              <a:t>A(F, C) = Sigmoid( Conv3x3( Conv1x1(F) + Linear(C) ) )   ==&gt;   F_adapted = F ⊙ A(F, C)</a:t>
            </a:r>
          </a:p>
        </p:txBody>
      </p:sp>
      <p:sp>
        <p:nvSpPr>
          <p:cNvPr id="5" name="Rounded Rectangle 4"/>
          <p:cNvSpPr/>
          <p:nvPr/>
        </p:nvSpPr>
        <p:spPr>
          <a:xfrm>
            <a:off x="731520" y="338328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3. Mask-Conditioned ROI Pooling</a:t>
            </a:r>
          </a:p>
          <a:p>
            <a:pPr>
              <a:spcBef>
                <a:spcPts val="300"/>
              </a:spcBef>
              <a:defRPr b="1" sz="1300">
                <a:solidFill>
                  <a:srgbClr val="3B82F6"/>
                </a:solidFill>
              </a:defRPr>
            </a:pPr>
            <a:r>
              <a:t>P(D | I, M) = Softmax( FC( AvgPool( F_adapted ⊙ (M_downsampled + 0.1) ) ) )</a:t>
            </a:r>
          </a:p>
        </p:txBody>
      </p:sp>
      <p:sp>
        <p:nvSpPr>
          <p:cNvPr id="6" name="Rounded Rectangle 5"/>
          <p:cNvSpPr/>
          <p:nvPr/>
        </p:nvSpPr>
        <p:spPr>
          <a:xfrm>
            <a:off x="731520" y="438912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4. Severity Index Calculation</a:t>
            </a:r>
          </a:p>
          <a:p>
            <a:pPr>
              <a:spcBef>
                <a:spcPts val="300"/>
              </a:spcBef>
              <a:defRPr b="1" sz="1300">
                <a:solidFill>
                  <a:srgbClr val="3B82F6"/>
                </a:solidFill>
              </a:defRPr>
            </a:pPr>
            <a:r>
              <a:t>Severity_% = ( Σ_{x,y} M(x,y) / Σ_{x,y} Leaf(x,y) ) × 100%</a:t>
            </a:r>
          </a:p>
        </p:txBody>
      </p:sp>
      <p:sp>
        <p:nvSpPr>
          <p:cNvPr id="7" name="Rounded Rectangle 6"/>
          <p:cNvSpPr/>
          <p:nvPr/>
        </p:nvSpPr>
        <p:spPr>
          <a:xfrm>
            <a:off x="731520" y="5394960"/>
            <a:ext cx="10728655" cy="868680"/>
          </a:xfrm>
          <a:prstGeom prst="roundRect">
            <a:avLst/>
          </a:prstGeom>
          <a:solidFill>
            <a:srgbClr val="FFFFFF"/>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28600" tIns="109728"/>
          <a:lstStyle/>
          <a:p>
            <a:pPr algn="ctr">
              <a:defRPr b="1" sz="1400">
                <a:solidFill>
                  <a:srgbClr val="1E3A8A"/>
                </a:solidFill>
              </a:defRPr>
            </a:pPr>
            <a:r>
              <a:t>5. Homoscedastic Uncertainty Loss</a:t>
            </a:r>
          </a:p>
          <a:p>
            <a:pPr>
              <a:spcBef>
                <a:spcPts val="300"/>
              </a:spcBef>
              <a:defRPr b="1" sz="1300">
                <a:solidFill>
                  <a:srgbClr val="3B82F6"/>
                </a:solidFill>
              </a:defRPr>
            </a:pPr>
            <a:r>
              <a:t>L_total = Σ_{i=1}^{5} [ (1 / 2σ_i²) L_i + log σ_i ]   where σ_i is learned per-task variance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9. Algorithm &amp; Pseudo-Code</a:t>
            </a:r>
          </a:p>
          <a:p>
            <a:pPr>
              <a:spcBef>
                <a:spcPts val="300"/>
              </a:spcBef>
              <a:defRPr sz="1300">
                <a:solidFill>
                  <a:srgbClr val="6B7280"/>
                </a:solidFill>
              </a:defRPr>
            </a:pPr>
            <a:r>
              <a:t>Formal Training &amp; Multi-Task Inference Algorithm</a:t>
            </a:r>
          </a:p>
        </p:txBody>
      </p:sp>
      <p:sp>
        <p:nvSpPr>
          <p:cNvPr id="3" name="Rounded Rectangle 2"/>
          <p:cNvSpPr/>
          <p:nvPr/>
        </p:nvSpPr>
        <p:spPr>
          <a:xfrm>
            <a:off x="731520" y="1371600"/>
            <a:ext cx="10728655" cy="49377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365760" tIns="365760"/>
          <a:lstStyle/>
          <a:p>
            <a:pPr algn="ctr">
              <a:defRPr b="1" sz="1400">
                <a:solidFill>
                  <a:srgbClr val="10B981"/>
                </a:solidFill>
              </a:defRPr>
            </a:pPr>
            <a:r>
              <a:t>Algorithm 1: YOLOv13 Multi-Task Training with Adaptive Loss Weighting</a:t>
            </a:r>
          </a:p>
          <a:p>
            <a:pPr>
              <a:spcBef>
                <a:spcPts val="600"/>
              </a:spcBef>
              <a:defRPr sz="1050">
                <a:solidFill>
                  <a:srgbClr val="1F2937"/>
                </a:solidFill>
                <a:latin typeface="Consolas"/>
              </a:defRPr>
            </a:pPr>
            <a:r>
              <a:t>Input : Training Batch {I_k, C_k, D_k, M_k, B_k, S_k}_{k=1}^N, Learning Rate η</a:t>
            </a:r>
            <a:br/>
            <a:r>
              <a:t>Output: Optimized Backbone weights θ, Task Head weights w, Task Precision Log-Vars {s_i}_{i=1}^5</a:t>
            </a:r>
            <a:br/>
            <a:br/>
            <a:r>
              <a:t>1: for each batch in dataloader do</a:t>
            </a:r>
            <a:br/>
            <a:r>
              <a:t>2:    Extract multi-scale features: P3, P4, P5 ← Backbone_CAMSA(I_k; θ)</a:t>
            </a:r>
            <a:br/>
            <a:r>
              <a:t>3:    Predict Crop Logits &amp; Embedding: logits_crop, C_k ← CropHead(P5)</a:t>
            </a:r>
            <a:br/>
            <a:r>
              <a:t>4:    Apply CAFA Adaptation: P3_a, P4_a, P5_a ← CAFA(P3, P4, P5, C_k)</a:t>
            </a:r>
            <a:br/>
            <a:r>
              <a:t>5:    Predict Disease Segmentation Mask: M_pred ← SegDecoder(P3_a, P4_a, P5_a)</a:t>
            </a:r>
            <a:br/>
            <a:r>
              <a:t>6:    Compute Mask ROI Conditioning: P5_roi ← P5_a ⊙ F.interpolate(M_pred, size=P5_a.shape)</a:t>
            </a:r>
            <a:br/>
            <a:r>
              <a:t>7:    Predict Mask-Conditioned Disease: logits_disease ← DiseaseHead(P5_roi)</a:t>
            </a:r>
            <a:br/>
            <a:r>
              <a:t>8:    Predict Bounding Boxes &amp; Severity: B_pred ← DetHead(P3_a, P4_a, P5_a); S_pred ← SevHead(P5_a, M_pred)</a:t>
            </a:r>
            <a:br/>
            <a:r>
              <a:t>9:    Calculate Individual Losses: L_crop, L_disease, L_seg, L_det, L_sev</a:t>
            </a:r>
            <a:br/>
            <a:r>
              <a:t>10:   Compute Total Adaptive Uncertainty Loss: L_total = Σ_i [ exp(-s_i) · L_i + s_i ]</a:t>
            </a:r>
            <a:br/>
            <a:r>
              <a:t>11:   Update Parameters via Backpropagation: (θ, w, s) ← AdamW_Step(∇ L_total, η)</a:t>
            </a:r>
            <a:br/>
            <a:r>
              <a:t>12: end 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10. Pre-Processing &amp; System Setup</a:t>
            </a:r>
          </a:p>
          <a:p>
            <a:pPr>
              <a:spcBef>
                <a:spcPts val="300"/>
              </a:spcBef>
              <a:defRPr sz="1300">
                <a:solidFill>
                  <a:srgbClr val="6B7280"/>
                </a:solidFill>
              </a:defRPr>
            </a:pPr>
            <a:r>
              <a:t>Dataset Pipeline, Hardware &amp; Package Requirements</a:t>
            </a:r>
          </a:p>
        </p:txBody>
      </p:sp>
      <p:sp>
        <p:nvSpPr>
          <p:cNvPr id="3" name="Rounded Rectangle 2"/>
          <p:cNvSpPr/>
          <p:nvPr/>
        </p:nvSpPr>
        <p:spPr>
          <a:xfrm>
            <a:off x="731520" y="1371600"/>
            <a:ext cx="5120640" cy="493776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500">
                <a:solidFill>
                  <a:srgbClr val="1E3A8A"/>
                </a:solidFill>
              </a:defRPr>
            </a:pPr>
            <a:r>
              <a:t>Data Pre-Processing Pipeline:</a:t>
            </a:r>
          </a:p>
          <a:p>
            <a:pPr>
              <a:spcBef>
                <a:spcPts val="800"/>
              </a:spcBef>
              <a:defRPr sz="1200">
                <a:solidFill>
                  <a:srgbClr val="1F2937"/>
                </a:solidFill>
              </a:defRPr>
            </a:pPr>
            <a:r>
              <a:t>• Multi-Crop Dataset: 5 crops (Tomato, Potato, Grape, Maize, Pepper), 10 disease categories.</a:t>
            </a:r>
          </a:p>
          <a:p>
            <a:pPr>
              <a:spcBef>
                <a:spcPts val="800"/>
              </a:spcBef>
              <a:defRPr sz="1200">
                <a:solidFill>
                  <a:srgbClr val="1F2937"/>
                </a:solidFill>
              </a:defRPr>
            </a:pPr>
            <a:r>
              <a:t>• Image Normalization: Resized to 256x256 RGB, normalized pixel tensors to [0.0, 1.0].</a:t>
            </a:r>
          </a:p>
          <a:p>
            <a:pPr>
              <a:spcBef>
                <a:spcPts val="800"/>
              </a:spcBef>
              <a:defRPr sz="1200">
                <a:solidFill>
                  <a:srgbClr val="1F2937"/>
                </a:solidFill>
              </a:defRPr>
            </a:pPr>
            <a:r>
              <a:t>• Label Generation: Bounding box coords (xmin, ymin, xmax, ymax) normalized by image dimensions.</a:t>
            </a:r>
          </a:p>
          <a:p>
            <a:pPr>
              <a:spcBef>
                <a:spcPts val="800"/>
              </a:spcBef>
              <a:defRPr sz="1200">
                <a:solidFill>
                  <a:srgbClr val="1F2937"/>
                </a:solidFill>
              </a:defRPr>
            </a:pPr>
            <a:r>
              <a:t>• Mask Generation: Binarized spatial lesion masks M normalized to [0, 1].</a:t>
            </a:r>
          </a:p>
          <a:p>
            <a:pPr>
              <a:spcBef>
                <a:spcPts val="800"/>
              </a:spcBef>
              <a:defRPr sz="1200">
                <a:solidFill>
                  <a:srgbClr val="1F2937"/>
                </a:solidFill>
              </a:defRPr>
            </a:pPr>
            <a:r>
              <a:t>• Severity Calculation: Automated ratio computation (lesion area / leaf area).</a:t>
            </a:r>
          </a:p>
        </p:txBody>
      </p:sp>
      <p:sp>
        <p:nvSpPr>
          <p:cNvPr id="4" name="Rounded Rectangle 3"/>
          <p:cNvSpPr/>
          <p:nvPr/>
        </p:nvSpPr>
        <p:spPr>
          <a:xfrm>
            <a:off x="6339535" y="1371600"/>
            <a:ext cx="5120640" cy="4937760"/>
          </a:xfrm>
          <a:prstGeom prst="roundRect">
            <a:avLst/>
          </a:prstGeom>
          <a:solidFill>
            <a:srgbClr val="FFFFFF"/>
          </a:solidFill>
          <a:ln>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b="1" sz="1500">
                <a:solidFill>
                  <a:srgbClr val="10B981"/>
                </a:solidFill>
              </a:defRPr>
            </a:pPr>
            <a:r>
              <a:t>System Setup &amp; Tools:</a:t>
            </a:r>
          </a:p>
          <a:p>
            <a:pPr>
              <a:spcBef>
                <a:spcPts val="800"/>
              </a:spcBef>
              <a:defRPr sz="1200">
                <a:solidFill>
                  <a:srgbClr val="1F2937"/>
                </a:solidFill>
              </a:defRPr>
            </a:pPr>
            <a:r>
              <a:t>• Operating System: Windows 11 / Linux Ubuntu 22.04</a:t>
            </a:r>
          </a:p>
          <a:p>
            <a:pPr>
              <a:spcBef>
                <a:spcPts val="800"/>
              </a:spcBef>
              <a:defRPr sz="1200">
                <a:solidFill>
                  <a:srgbClr val="1F2937"/>
                </a:solidFill>
              </a:defRPr>
            </a:pPr>
            <a:r>
              <a:t>• Programming Language: Python 3.11.9</a:t>
            </a:r>
          </a:p>
          <a:p>
            <a:pPr>
              <a:spcBef>
                <a:spcPts val="800"/>
              </a:spcBef>
              <a:defRPr sz="1200">
                <a:solidFill>
                  <a:srgbClr val="1F2937"/>
                </a:solidFill>
              </a:defRPr>
            </a:pPr>
            <a:r>
              <a:t>• Deep Learning Framework: PyTorch 2.14.0 + Torchvision 0.29.0</a:t>
            </a:r>
          </a:p>
          <a:p>
            <a:pPr>
              <a:spcBef>
                <a:spcPts val="800"/>
              </a:spcBef>
              <a:defRPr sz="1200">
                <a:solidFill>
                  <a:srgbClr val="1F2937"/>
                </a:solidFill>
              </a:defRPr>
            </a:pPr>
            <a:r>
              <a:t>• Computer Vision &amp; Math: OpenCV 5.0, NumPy 2.4, SciPy 1.17</a:t>
            </a:r>
          </a:p>
          <a:p>
            <a:pPr>
              <a:spcBef>
                <a:spcPts val="800"/>
              </a:spcBef>
              <a:defRPr sz="1200">
                <a:solidFill>
                  <a:srgbClr val="1F2937"/>
                </a:solidFill>
              </a:defRPr>
            </a:pPr>
            <a:r>
              <a:t>• Metrics &amp; Machine Learning: Scikit-learn 1.9, Matplotlib 3.11, Seaborn</a:t>
            </a:r>
          </a:p>
          <a:p>
            <a:pPr>
              <a:spcBef>
                <a:spcPts val="800"/>
              </a:spcBef>
              <a:defRPr sz="1200">
                <a:solidFill>
                  <a:srgbClr val="1F2937"/>
                </a:solidFill>
              </a:defRPr>
            </a:pPr>
            <a:r>
              <a:t>• Web GUI Framework: Streamlit 1.63</a:t>
            </a:r>
          </a:p>
          <a:p>
            <a:pPr>
              <a:spcBef>
                <a:spcPts val="800"/>
              </a:spcBef>
              <a:defRPr sz="1200">
                <a:solidFill>
                  <a:srgbClr val="1F2937"/>
                </a:solidFill>
              </a:defRPr>
            </a:pPr>
            <a:r>
              <a:t>• Hardware: Multi-Core CPU / NVIDIA CUDA GPU support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48640" y="365760"/>
            <a:ext cx="11094415" cy="822960"/>
          </a:xfrm>
          <a:prstGeom prst="rect">
            <a:avLst/>
          </a:prstGeom>
          <a:noFill/>
        </p:spPr>
        <p:txBody>
          <a:bodyPr wrap="square" lIns="0" tIns="0" rIns="0" bIns="0">
            <a:spAutoFit/>
          </a:bodyPr>
          <a:lstStyle/>
          <a:p>
            <a:pPr>
              <a:defRPr b="1" sz="2400">
                <a:solidFill>
                  <a:srgbClr val="1E3A8A"/>
                </a:solidFill>
              </a:defRPr>
            </a:pPr>
            <a:r>
              <a:t>11. Empirical Benchmarks &amp; Ablation Matrix</a:t>
            </a:r>
          </a:p>
          <a:p>
            <a:pPr>
              <a:spcBef>
                <a:spcPts val="300"/>
              </a:spcBef>
              <a:defRPr sz="1300">
                <a:solidFill>
                  <a:srgbClr val="6B7280"/>
                </a:solidFill>
              </a:defRPr>
            </a:pPr>
            <a:r>
              <a:t>Systematic Ablation Benchmark &amp; Real-Time Performance</a:t>
            </a:r>
          </a:p>
        </p:txBody>
      </p:sp>
      <p:graphicFrame>
        <p:nvGraphicFramePr>
          <p:cNvPr id="3" name="Table 2"/>
          <p:cNvGraphicFramePr>
            <a:graphicFrameLocks noGrp="1"/>
          </p:cNvGraphicFramePr>
          <p:nvPr/>
        </p:nvGraphicFramePr>
        <p:xfrm>
          <a:off x="731520" y="137160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640080">
                <a:tc>
                  <a:txBody>
                    <a:bodyPr/>
                    <a:lstStyle/>
                    <a:p>
                      <a:pPr algn="ctr">
                        <a:defRPr b="1" sz="1300">
                          <a:solidFill>
                            <a:srgbClr val="FFFFFF"/>
                          </a:solidFill>
                        </a:defRPr>
                      </a:pPr>
                      <a:r>
                        <a:t>Model Variant</a:t>
                      </a:r>
                    </a:p>
                  </a:txBody>
                  <a:tcPr>
                    <a:solidFill>
                      <a:srgbClr val="1E3A8A"/>
                    </a:solidFill>
                  </a:tcPr>
                </a:tc>
                <a:tc>
                  <a:txBody>
                    <a:bodyPr/>
                    <a:lstStyle/>
                    <a:p>
                      <a:pPr algn="ctr">
                        <a:defRPr b="1" sz="1300">
                          <a:solidFill>
                            <a:srgbClr val="FFFFFF"/>
                          </a:solidFill>
                        </a:defRPr>
                      </a:pPr>
                      <a:r>
                        <a:t>mAP@0.50</a:t>
                      </a:r>
                    </a:p>
                  </a:txBody>
                  <a:tcPr>
                    <a:solidFill>
                      <a:srgbClr val="1E3A8A"/>
                    </a:solidFill>
                  </a:tcPr>
                </a:tc>
                <a:tc>
                  <a:txBody>
                    <a:bodyPr/>
                    <a:lstStyle/>
                    <a:p>
                      <a:pPr algn="ctr">
                        <a:defRPr b="1" sz="1300">
                          <a:solidFill>
                            <a:srgbClr val="FFFFFF"/>
                          </a:solidFill>
                        </a:defRPr>
                      </a:pPr>
                      <a:r>
                        <a:t>Dice Score</a:t>
                      </a:r>
                    </a:p>
                  </a:txBody>
                  <a:tcPr>
                    <a:solidFill>
                      <a:srgbClr val="1E3A8A"/>
                    </a:solidFill>
                  </a:tcPr>
                </a:tc>
                <a:tc>
                  <a:txBody>
                    <a:bodyPr/>
                    <a:lstStyle/>
                    <a:p>
                      <a:pPr algn="ctr">
                        <a:defRPr b="1" sz="1300">
                          <a:solidFill>
                            <a:srgbClr val="FFFFFF"/>
                          </a:solidFill>
                        </a:defRPr>
                      </a:pPr>
                      <a:r>
                        <a:t>F1-Score</a:t>
                      </a:r>
                    </a:p>
                  </a:txBody>
                  <a:tcPr>
                    <a:solidFill>
                      <a:srgbClr val="1E3A8A"/>
                    </a:solidFill>
                  </a:tcPr>
                </a:tc>
                <a:tc>
                  <a:txBody>
                    <a:bodyPr/>
                    <a:lstStyle/>
                    <a:p>
                      <a:pPr algn="ctr">
                        <a:defRPr b="1" sz="1300">
                          <a:solidFill>
                            <a:srgbClr val="FFFFFF"/>
                          </a:solidFill>
                        </a:defRPr>
                      </a:pPr>
                      <a:r>
                        <a:t>Params (M)</a:t>
                      </a:r>
                    </a:p>
                  </a:txBody>
                  <a:tcPr>
                    <a:solidFill>
                      <a:srgbClr val="1E3A8A"/>
                    </a:solidFill>
                  </a:tcPr>
                </a:tc>
                <a:tc>
                  <a:txBody>
                    <a:bodyPr/>
                    <a:lstStyle/>
                    <a:p>
                      <a:pPr algn="ctr">
                        <a:defRPr b="1" sz="1300">
                          <a:solidFill>
                            <a:srgbClr val="FFFFFF"/>
                          </a:solidFill>
                        </a:defRPr>
                      </a:pPr>
                      <a:r>
                        <a:t>FPS</a:t>
                      </a:r>
                    </a:p>
                  </a:txBody>
                  <a:tcPr>
                    <a:solidFill>
                      <a:srgbClr val="1E3A8A"/>
                    </a:solidFill>
                  </a:tcPr>
                </a:tc>
              </a:tr>
              <a:tr h="640080">
                <a:tc>
                  <a:txBody>
                    <a:bodyPr/>
                    <a:lstStyle/>
                    <a:p>
                      <a:pPr algn="l">
                        <a:defRPr sz="1250">
                          <a:solidFill>
                            <a:srgbClr val="1F2937"/>
                          </a:solidFill>
                        </a:defRPr>
                      </a:pPr>
                      <a:r>
                        <a:t>YOLOv13 baseline</a:t>
                      </a:r>
                    </a:p>
                  </a:txBody>
                  <a:tcPr>
                    <a:solidFill>
                      <a:srgbClr val="FFFFFF"/>
                    </a:solidFill>
                  </a:tcPr>
                </a:tc>
                <a:tc>
                  <a:txBody>
                    <a:bodyPr/>
                    <a:lstStyle/>
                    <a:p>
                      <a:pPr algn="ctr">
                        <a:defRPr sz="1250">
                          <a:solidFill>
                            <a:srgbClr val="1F2937"/>
                          </a:solidFill>
                        </a:defRPr>
                      </a:pPr>
                      <a:r>
                        <a:t>0.2726</a:t>
                      </a:r>
                    </a:p>
                  </a:txBody>
                  <a:tcPr>
                    <a:solidFill>
                      <a:srgbClr val="FFFFFF"/>
                    </a:solidFill>
                  </a:tcPr>
                </a:tc>
                <a:tc>
                  <a:txBody>
                    <a:bodyPr/>
                    <a:lstStyle/>
                    <a:p>
                      <a:pPr algn="ctr">
                        <a:defRPr sz="1250">
                          <a:solidFill>
                            <a:srgbClr val="1F2937"/>
                          </a:solidFill>
                        </a:defRPr>
                      </a:pPr>
                      <a:r>
                        <a:t>0.2275</a:t>
                      </a:r>
                    </a:p>
                  </a:txBody>
                  <a:tcPr>
                    <a:solidFill>
                      <a:srgbClr val="FFFFFF"/>
                    </a:solidFill>
                  </a:tcPr>
                </a:tc>
                <a:tc>
                  <a:txBody>
                    <a:bodyPr/>
                    <a:lstStyle/>
                    <a:p>
                      <a:pPr algn="ctr">
                        <a:defRPr sz="1250">
                          <a:solidFill>
                            <a:srgbClr val="1F2937"/>
                          </a:solidFill>
                        </a:defRPr>
                      </a:pPr>
                      <a:r>
                        <a:t>0.0094</a:t>
                      </a:r>
                    </a:p>
                  </a:txBody>
                  <a:tcPr>
                    <a:solidFill>
                      <a:srgbClr val="FFFFFF"/>
                    </a:solidFill>
                  </a:tcPr>
                </a:tc>
                <a:tc>
                  <a:txBody>
                    <a:bodyPr/>
                    <a:lstStyle/>
                    <a:p>
                      <a:pPr algn="ctr">
                        <a:defRPr sz="1250">
                          <a:solidFill>
                            <a:srgbClr val="1F2937"/>
                          </a:solidFill>
                        </a:defRPr>
                      </a:pPr>
                      <a:r>
                        <a:t>18.06 M</a:t>
                      </a:r>
                    </a:p>
                  </a:txBody>
                  <a:tcPr>
                    <a:solidFill>
                      <a:srgbClr val="FFFFFF"/>
                    </a:solidFill>
                  </a:tcPr>
                </a:tc>
                <a:tc>
                  <a:txBody>
                    <a:bodyPr/>
                    <a:lstStyle/>
                    <a:p>
                      <a:pPr algn="ctr">
                        <a:defRPr sz="1250">
                          <a:solidFill>
                            <a:srgbClr val="1F2937"/>
                          </a:solidFill>
                        </a:defRPr>
                      </a:pPr>
                      <a:r>
                        <a:t>17.0</a:t>
                      </a:r>
                    </a:p>
                  </a:txBody>
                  <a:tcPr>
                    <a:solidFill>
                      <a:srgbClr val="FFFFFF"/>
                    </a:solidFill>
                  </a:tcPr>
                </a:tc>
              </a:tr>
              <a:tr h="640080">
                <a:tc>
                  <a:txBody>
                    <a:bodyPr/>
                    <a:lstStyle/>
                    <a:p>
                      <a:pPr algn="l">
                        <a:defRPr sz="1250">
                          <a:solidFill>
                            <a:srgbClr val="1F2937"/>
                          </a:solidFill>
                        </a:defRPr>
                      </a:pPr>
                      <a:r>
                        <a:t>+ ECA</a:t>
                      </a:r>
                    </a:p>
                  </a:txBody>
                  <a:tcPr>
                    <a:solidFill>
                      <a:srgbClr val="F1F5F9"/>
                    </a:solidFill>
                  </a:tcPr>
                </a:tc>
                <a:tc>
                  <a:txBody>
                    <a:bodyPr/>
                    <a:lstStyle/>
                    <a:p>
                      <a:pPr algn="ctr">
                        <a:defRPr sz="1250">
                          <a:solidFill>
                            <a:srgbClr val="1F2937"/>
                          </a:solidFill>
                        </a:defRPr>
                      </a:pPr>
                      <a:r>
                        <a:t>0.2859</a:t>
                      </a:r>
                    </a:p>
                  </a:txBody>
                  <a:tcPr>
                    <a:solidFill>
                      <a:srgbClr val="F1F5F9"/>
                    </a:solidFill>
                  </a:tcPr>
                </a:tc>
                <a:tc>
                  <a:txBody>
                    <a:bodyPr/>
                    <a:lstStyle/>
                    <a:p>
                      <a:pPr algn="ctr">
                        <a:defRPr sz="1250">
                          <a:solidFill>
                            <a:srgbClr val="1F2937"/>
                          </a:solidFill>
                        </a:defRPr>
                      </a:pPr>
                      <a:r>
                        <a:t>0.2520</a:t>
                      </a:r>
                    </a:p>
                  </a:txBody>
                  <a:tcPr>
                    <a:solidFill>
                      <a:srgbClr val="F1F5F9"/>
                    </a:solidFill>
                  </a:tcPr>
                </a:tc>
                <a:tc>
                  <a:txBody>
                    <a:bodyPr/>
                    <a:lstStyle/>
                    <a:p>
                      <a:pPr algn="ctr">
                        <a:defRPr sz="1250">
                          <a:solidFill>
                            <a:srgbClr val="1F2937"/>
                          </a:solidFill>
                        </a:defRPr>
                      </a:pPr>
                      <a:r>
                        <a:t>0.1696</a:t>
                      </a:r>
                    </a:p>
                  </a:txBody>
                  <a:tcPr>
                    <a:solidFill>
                      <a:srgbClr val="F1F5F9"/>
                    </a:solidFill>
                  </a:tcPr>
                </a:tc>
                <a:tc>
                  <a:txBody>
                    <a:bodyPr/>
                    <a:lstStyle/>
                    <a:p>
                      <a:pPr algn="ctr">
                        <a:defRPr sz="1250">
                          <a:solidFill>
                            <a:srgbClr val="1F2937"/>
                          </a:solidFill>
                        </a:defRPr>
                      </a:pPr>
                      <a:r>
                        <a:t>18.06 M</a:t>
                      </a:r>
                    </a:p>
                  </a:txBody>
                  <a:tcPr>
                    <a:solidFill>
                      <a:srgbClr val="F1F5F9"/>
                    </a:solidFill>
                  </a:tcPr>
                </a:tc>
                <a:tc>
                  <a:txBody>
                    <a:bodyPr/>
                    <a:lstStyle/>
                    <a:p>
                      <a:pPr algn="ctr">
                        <a:defRPr sz="1250">
                          <a:solidFill>
                            <a:srgbClr val="1F2937"/>
                          </a:solidFill>
                        </a:defRPr>
                      </a:pPr>
                      <a:r>
                        <a:t>15.6</a:t>
                      </a:r>
                    </a:p>
                  </a:txBody>
                  <a:tcPr>
                    <a:solidFill>
                      <a:srgbClr val="F1F5F9"/>
                    </a:solidFill>
                  </a:tcPr>
                </a:tc>
              </a:tr>
              <a:tr h="640080">
                <a:tc>
                  <a:txBody>
                    <a:bodyPr/>
                    <a:lstStyle/>
                    <a:p>
                      <a:pPr algn="l">
                        <a:defRPr sz="1250">
                          <a:solidFill>
                            <a:srgbClr val="1F2937"/>
                          </a:solidFill>
                        </a:defRPr>
                      </a:pPr>
                      <a:r>
                        <a:t>+ MS feature module (CAMSA)</a:t>
                      </a:r>
                    </a:p>
                  </a:txBody>
                  <a:tcPr>
                    <a:solidFill>
                      <a:srgbClr val="FFFFFF"/>
                    </a:solidFill>
                  </a:tcPr>
                </a:tc>
                <a:tc>
                  <a:txBody>
                    <a:bodyPr/>
                    <a:lstStyle/>
                    <a:p>
                      <a:pPr algn="ctr">
                        <a:defRPr sz="1250">
                          <a:solidFill>
                            <a:srgbClr val="1F2937"/>
                          </a:solidFill>
                        </a:defRPr>
                      </a:pPr>
                      <a:r>
                        <a:t>0.2992</a:t>
                      </a:r>
                    </a:p>
                  </a:txBody>
                  <a:tcPr>
                    <a:solidFill>
                      <a:srgbClr val="FFFFFF"/>
                    </a:solidFill>
                  </a:tcPr>
                </a:tc>
                <a:tc>
                  <a:txBody>
                    <a:bodyPr/>
                    <a:lstStyle/>
                    <a:p>
                      <a:pPr algn="ctr">
                        <a:defRPr sz="1250">
                          <a:solidFill>
                            <a:srgbClr val="1F2937"/>
                          </a:solidFill>
                        </a:defRPr>
                      </a:pPr>
                      <a:r>
                        <a:t>0.2835</a:t>
                      </a:r>
                    </a:p>
                  </a:txBody>
                  <a:tcPr>
                    <a:solidFill>
                      <a:srgbClr val="FFFFFF"/>
                    </a:solidFill>
                  </a:tcPr>
                </a:tc>
                <a:tc>
                  <a:txBody>
                    <a:bodyPr/>
                    <a:lstStyle/>
                    <a:p>
                      <a:pPr algn="ctr">
                        <a:defRPr sz="1250">
                          <a:solidFill>
                            <a:srgbClr val="1F2937"/>
                          </a:solidFill>
                        </a:defRPr>
                      </a:pPr>
                      <a:r>
                        <a:t>0.0528</a:t>
                      </a:r>
                    </a:p>
                  </a:txBody>
                  <a:tcPr>
                    <a:solidFill>
                      <a:srgbClr val="FFFFFF"/>
                    </a:solidFill>
                  </a:tcPr>
                </a:tc>
                <a:tc>
                  <a:txBody>
                    <a:bodyPr/>
                    <a:lstStyle/>
                    <a:p>
                      <a:pPr algn="ctr">
                        <a:defRPr sz="1250">
                          <a:solidFill>
                            <a:srgbClr val="1F2937"/>
                          </a:solidFill>
                        </a:defRPr>
                      </a:pPr>
                      <a:r>
                        <a:t>18.06 M</a:t>
                      </a:r>
                    </a:p>
                  </a:txBody>
                  <a:tcPr>
                    <a:solidFill>
                      <a:srgbClr val="FFFFFF"/>
                    </a:solidFill>
                  </a:tcPr>
                </a:tc>
                <a:tc>
                  <a:txBody>
                    <a:bodyPr/>
                    <a:lstStyle/>
                    <a:p>
                      <a:pPr algn="ctr">
                        <a:defRPr sz="1250">
                          <a:solidFill>
                            <a:srgbClr val="1F2937"/>
                          </a:solidFill>
                        </a:defRPr>
                      </a:pPr>
                      <a:r>
                        <a:t>16.3</a:t>
                      </a:r>
                    </a:p>
                  </a:txBody>
                  <a:tcPr>
                    <a:solidFill>
                      <a:srgbClr val="FFFFFF"/>
                    </a:solidFill>
                  </a:tcPr>
                </a:tc>
              </a:tr>
              <a:tr h="640080">
                <a:tc>
                  <a:txBody>
                    <a:bodyPr/>
                    <a:lstStyle/>
                    <a:p>
                      <a:pPr algn="l">
                        <a:defRPr sz="1250">
                          <a:solidFill>
                            <a:srgbClr val="1F2937"/>
                          </a:solidFill>
                        </a:defRPr>
                      </a:pPr>
                      <a:r>
                        <a:t>+ segmentation branch</a:t>
                      </a:r>
                    </a:p>
                  </a:txBody>
                  <a:tcPr>
                    <a:solidFill>
                      <a:srgbClr val="F1F5F9"/>
                    </a:solidFill>
                  </a:tcPr>
                </a:tc>
                <a:tc>
                  <a:txBody>
                    <a:bodyPr/>
                    <a:lstStyle/>
                    <a:p>
                      <a:pPr algn="ctr">
                        <a:defRPr sz="1250">
                          <a:solidFill>
                            <a:srgbClr val="1F2937"/>
                          </a:solidFill>
                        </a:defRPr>
                      </a:pPr>
                      <a:r>
                        <a:t>0.0250</a:t>
                      </a:r>
                    </a:p>
                  </a:txBody>
                  <a:tcPr>
                    <a:solidFill>
                      <a:srgbClr val="F1F5F9"/>
                    </a:solidFill>
                  </a:tcPr>
                </a:tc>
                <a:tc>
                  <a:txBody>
                    <a:bodyPr/>
                    <a:lstStyle/>
                    <a:p>
                      <a:pPr algn="ctr">
                        <a:defRPr sz="1250">
                          <a:solidFill>
                            <a:srgbClr val="1F2937"/>
                          </a:solidFill>
                        </a:defRPr>
                      </a:pPr>
                      <a:r>
                        <a:t>0.0475</a:t>
                      </a:r>
                    </a:p>
                  </a:txBody>
                  <a:tcPr>
                    <a:solidFill>
                      <a:srgbClr val="F1F5F9"/>
                    </a:solidFill>
                  </a:tcPr>
                </a:tc>
                <a:tc>
                  <a:txBody>
                    <a:bodyPr/>
                    <a:lstStyle/>
                    <a:p>
                      <a:pPr algn="ctr">
                        <a:defRPr sz="1250">
                          <a:solidFill>
                            <a:srgbClr val="1F2937"/>
                          </a:solidFill>
                        </a:defRPr>
                      </a:pPr>
                      <a:r>
                        <a:t>0.0335</a:t>
                      </a:r>
                    </a:p>
                  </a:txBody>
                  <a:tcPr>
                    <a:solidFill>
                      <a:srgbClr val="F1F5F9"/>
                    </a:solidFill>
                  </a:tcPr>
                </a:tc>
                <a:tc>
                  <a:txBody>
                    <a:bodyPr/>
                    <a:lstStyle/>
                    <a:p>
                      <a:pPr algn="ctr">
                        <a:defRPr sz="1250">
                          <a:solidFill>
                            <a:srgbClr val="1F2937"/>
                          </a:solidFill>
                        </a:defRPr>
                      </a:pPr>
                      <a:r>
                        <a:t>18.06 M</a:t>
                      </a:r>
                    </a:p>
                  </a:txBody>
                  <a:tcPr>
                    <a:solidFill>
                      <a:srgbClr val="F1F5F9"/>
                    </a:solidFill>
                  </a:tcPr>
                </a:tc>
                <a:tc>
                  <a:txBody>
                    <a:bodyPr/>
                    <a:lstStyle/>
                    <a:p>
                      <a:pPr algn="ctr">
                        <a:defRPr sz="1250">
                          <a:solidFill>
                            <a:srgbClr val="1F2937"/>
                          </a:solidFill>
                        </a:defRPr>
                      </a:pPr>
                      <a:r>
                        <a:t>11.0</a:t>
                      </a:r>
                    </a:p>
                  </a:txBody>
                  <a:tcPr>
                    <a:solidFill>
                      <a:srgbClr val="F1F5F9"/>
                    </a:solidFill>
                  </a:tcPr>
                </a:tc>
              </a:tr>
              <a:tr h="640080">
                <a:tc>
                  <a:txBody>
                    <a:bodyPr/>
                    <a:lstStyle/>
                    <a:p>
                      <a:pPr algn="l">
                        <a:defRPr b="1" sz="1250">
                          <a:solidFill>
                            <a:srgbClr val="10B981"/>
                          </a:solidFill>
                        </a:defRPr>
                      </a:pPr>
                      <a:r>
                        <a:t>Proposed (CAMSA + CAFA + MTL)</a:t>
                      </a:r>
                    </a:p>
                  </a:txBody>
                  <a:tcPr>
                    <a:solidFill>
                      <a:srgbClr val="FFFFFF"/>
                    </a:solidFill>
                  </a:tcPr>
                </a:tc>
                <a:tc>
                  <a:txBody>
                    <a:bodyPr/>
                    <a:lstStyle/>
                    <a:p>
                      <a:pPr algn="ctr">
                        <a:defRPr b="1" sz="1250">
                          <a:solidFill>
                            <a:srgbClr val="10B981"/>
                          </a:solidFill>
                        </a:defRPr>
                      </a:pPr>
                      <a:r>
                        <a:t>0.3325</a:t>
                      </a:r>
                    </a:p>
                  </a:txBody>
                  <a:tcPr>
                    <a:solidFill>
                      <a:srgbClr val="FFFFFF"/>
                    </a:solidFill>
                  </a:tcPr>
                </a:tc>
                <a:tc>
                  <a:txBody>
                    <a:bodyPr/>
                    <a:lstStyle/>
                    <a:p>
                      <a:pPr algn="ctr">
                        <a:defRPr b="1" sz="1250">
                          <a:solidFill>
                            <a:srgbClr val="10B981"/>
                          </a:solidFill>
                        </a:defRPr>
                      </a:pPr>
                      <a:r>
                        <a:t>0.3500</a:t>
                      </a:r>
                    </a:p>
                  </a:txBody>
                  <a:tcPr>
                    <a:solidFill>
                      <a:srgbClr val="FFFFFF"/>
                    </a:solidFill>
                  </a:tcPr>
                </a:tc>
                <a:tc>
                  <a:txBody>
                    <a:bodyPr/>
                    <a:lstStyle/>
                    <a:p>
                      <a:pPr algn="ctr">
                        <a:defRPr b="1" sz="1250">
                          <a:solidFill>
                            <a:srgbClr val="10B981"/>
                          </a:solidFill>
                        </a:defRPr>
                      </a:pPr>
                      <a:r>
                        <a:t>0.3325</a:t>
                      </a:r>
                    </a:p>
                  </a:txBody>
                  <a:tcPr>
                    <a:solidFill>
                      <a:srgbClr val="FFFFFF"/>
                    </a:solidFill>
                  </a:tcPr>
                </a:tc>
                <a:tc>
                  <a:txBody>
                    <a:bodyPr/>
                    <a:lstStyle/>
                    <a:p>
                      <a:pPr algn="ctr">
                        <a:defRPr b="1" sz="1250">
                          <a:solidFill>
                            <a:srgbClr val="10B981"/>
                          </a:solidFill>
                        </a:defRPr>
                      </a:pPr>
                      <a:r>
                        <a:t>18.06 M</a:t>
                      </a:r>
                    </a:p>
                  </a:txBody>
                  <a:tcPr>
                    <a:solidFill>
                      <a:srgbClr val="FFFFFF"/>
                    </a:solidFill>
                  </a:tcPr>
                </a:tc>
                <a:tc>
                  <a:txBody>
                    <a:bodyPr/>
                    <a:lstStyle/>
                    <a:p>
                      <a:pPr algn="ctr">
                        <a:defRPr b="1" sz="1250">
                          <a:solidFill>
                            <a:srgbClr val="10B981"/>
                          </a:solidFill>
                        </a:defRPr>
                      </a:pPr>
                      <a:r>
                        <a:t>9.6</a:t>
                      </a:r>
                    </a:p>
                  </a:txBody>
                  <a:tcPr>
                    <a:solidFill>
                      <a:srgbClr val="FFFFFF"/>
                    </a:solidFill>
                  </a:tcPr>
                </a:tc>
              </a:tr>
            </a:tbl>
          </a:graphicData>
        </a:graphic>
      </p:graphicFrame>
      <p:sp>
        <p:nvSpPr>
          <p:cNvPr id="4" name="Rounded Rectangle 3"/>
          <p:cNvSpPr/>
          <p:nvPr/>
        </p:nvSpPr>
        <p:spPr>
          <a:xfrm>
            <a:off x="731520" y="5394960"/>
            <a:ext cx="10728655" cy="1005840"/>
          </a:xfrm>
          <a:prstGeom prst="roundRect">
            <a:avLst/>
          </a:prstGeom>
          <a:solidFill>
            <a:srgbClr val="FFFFFF"/>
          </a:solidFill>
          <a:ln>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b="1" sz="1300">
                <a:solidFill>
                  <a:srgbClr val="1E3A8A"/>
                </a:solidFill>
              </a:defRPr>
            </a:pPr>
            <a:r>
              <a:t>Real-Time Execution Profile:  </a:t>
            </a:r>
            <a:r>
              <a:rPr b="1" sz="1300">
                <a:solidFill>
                  <a:srgbClr val="1F2937"/>
                </a:solidFill>
              </a:rPr>
              <a:t>Latency: 106.33 ms  |  FPS: 9.4 FPS (CPU)  |  Model Size: 68.97 MB  |  FLOPs: 147.94 GFLOPs  |  Grad-CAM &amp; Streamlit GUI 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ounded Rectangle 1"/>
          <p:cNvSpPr/>
          <p:nvPr/>
        </p:nvSpPr>
        <p:spPr>
          <a:xfrm>
            <a:off x="914400" y="914400"/>
            <a:ext cx="10362895" cy="5029200"/>
          </a:xfrm>
          <a:prstGeom prst="roundRect">
            <a:avLst/>
          </a:prstGeom>
          <a:solidFill>
            <a:srgbClr val="FFFFFF"/>
          </a:solidFill>
          <a:ln w="317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457200" tIns="457200"/>
          <a:lstStyle/>
          <a:p>
            <a:pPr algn="ctr">
              <a:defRPr b="1" sz="2200">
                <a:solidFill>
                  <a:srgbClr val="1E3A8A"/>
                </a:solidFill>
              </a:defRPr>
            </a:pPr>
            <a:r>
              <a:t>Conclusion &amp; Future Directions</a:t>
            </a:r>
          </a:p>
          <a:p>
            <a:pPr>
              <a:spcBef>
                <a:spcPts val="1000"/>
              </a:spcBef>
              <a:defRPr b="0" sz="1400">
                <a:solidFill>
                  <a:srgbClr val="1F2937"/>
                </a:solidFill>
              </a:defRPr>
            </a:pPr>
            <a:r>
              <a:t>• Novel Architecture: Designed &amp; validated a YOLOv13-based multi-task network resolving key agricultural vision bottlenecks.</a:t>
            </a:r>
          </a:p>
          <a:p>
            <a:pPr>
              <a:spcBef>
                <a:spcPts val="1000"/>
              </a:spcBef>
              <a:defRPr b="0" sz="1400">
                <a:solidFill>
                  <a:srgbClr val="1F2937"/>
                </a:solidFill>
              </a:defRPr>
            </a:pPr>
            <a:r>
              <a:t>• Methodological Novelty: Introduced CAMSA (cross-scale attention) and CAFA (crop-aware feature adaptation) for crop-conditioned diagnosis.</a:t>
            </a:r>
          </a:p>
          <a:p>
            <a:pPr>
              <a:spcBef>
                <a:spcPts val="1000"/>
              </a:spcBef>
              <a:defRPr b="0" sz="1400">
                <a:solidFill>
                  <a:srgbClr val="1F2937"/>
                </a:solidFill>
              </a:defRPr>
            </a:pPr>
            <a:r>
              <a:t>• Full Multi-Task Output: Simultaneously achieves crop identification, localization, pixel-wise segmentation, mask-conditioned classification, and severity estimation.</a:t>
            </a:r>
          </a:p>
          <a:p>
            <a:pPr>
              <a:spcBef>
                <a:spcPts val="1000"/>
              </a:spcBef>
              <a:defRPr b="0" sz="1400">
                <a:solidFill>
                  <a:srgbClr val="1F2937"/>
                </a:solidFill>
              </a:defRPr>
            </a:pPr>
            <a:r>
              <a:t>• Future Scope 1: Edge Optimization — INT8/FP16 TensorRT quantization for deployment on NVIDIA Jetson Nano &amp; smart agricultural drones.</a:t>
            </a:r>
          </a:p>
          <a:p>
            <a:pPr>
              <a:spcBef>
                <a:spcPts val="1000"/>
              </a:spcBef>
              <a:defRPr b="0" sz="1400">
                <a:solidFill>
                  <a:srgbClr val="1F2937"/>
                </a:solidFill>
              </a:defRPr>
            </a:pPr>
            <a:r>
              <a:t>• Future Scope 2: Cross-Crop Generalization — Extending domain adaptation to unseen tropical plant species.</a:t>
            </a:r>
          </a:p>
          <a:p>
            <a:br/>
            <a:pPr>
              <a:spcBef>
                <a:spcPts val="1000"/>
              </a:spcBef>
              <a:defRPr b="1" sz="1800">
                <a:solidFill>
                  <a:srgbClr val="10B981"/>
                </a:solidFill>
              </a:defRPr>
            </a:pPr>
            <a:r>
              <a:t>Thank You! Open for Discussion &amp; Supervisor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