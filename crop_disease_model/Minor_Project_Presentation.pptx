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548640"/>
          <a:lstStyle/>
          <a:p>
            <a:pPr algn="ctr">
              <a:defRPr b="1" sz="1600">
                <a:solidFill>
                  <a:srgbClr val="10B981"/>
                </a:solidFill>
              </a:defRPr>
            </a:pPr>
            <a:r>
              <a:t>MINOR PROJECT PRESENTATION</a:t>
            </a:r>
          </a:p>
          <a:p>
            <a:pPr>
              <a:spcBef>
                <a:spcPts val="1400"/>
              </a:spcBef>
              <a:defRPr b="1" sz="2400">
                <a:solidFill>
                  <a:srgbClr val="1E3A8A"/>
                </a:solidFill>
              </a:defRPr>
            </a:pPr>
            <a:r>
              <a:t>A YOLOv13-based Multi-Task Attention Network with Cross-Scale Feature Fusion for Multi-Crop Disease Localization, Classification and Severity Prediction</a:t>
            </a:r>
          </a:p>
          <a:p>
            <a:pPr>
              <a:spcBef>
                <a:spcPts val="1400"/>
              </a:spcBef>
              <a:defRPr sz="1400">
                <a:solidFill>
                  <a:srgbClr val="6B7280"/>
                </a:solidFill>
              </a:defRPr>
            </a:pPr>
            <a:r>
              <a:t>Crop-Aware Multi-Scale Attention (CAMSA) • Feature Adaptation (CAFA) • Mask-Conditioned MTL</a:t>
            </a:r>
          </a:p>
          <a:p>
            <a:br/>
            <a:pPr>
              <a:defRPr sz="1400" b="1">
                <a:solidFill>
                  <a:srgbClr val="1F2937"/>
                </a:solidFill>
              </a:defRPr>
            </a:pPr>
            <a:r>
              <a:t>Presenter / Author: Raj Vikram</a:t>
            </a:r>
            <a:br/>
            <a:r>
              <a:t>Domain: Agricultural Computer Vision &amp;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1. Problem Statement &amp; Motivation</a:t>
            </a:r>
          </a:p>
          <a:p>
            <a:pPr>
              <a:spcBef>
                <a:spcPts val="400"/>
              </a:spcBef>
              <a:defRPr sz="1400">
                <a:solidFill>
                  <a:srgbClr val="6B7280"/>
                </a:solidFill>
              </a:defRPr>
            </a:pPr>
            <a:r>
              <a:t>Agricultural Vision Challenges in Plant Disease Diagnosis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• Small Lesions: </a:t>
            </a:r>
            <a:r>
              <a:rPr b="0" sz="1400">
                <a:solidFill>
                  <a:srgbClr val="1F2937"/>
                </a:solidFill>
              </a:rPr>
              <a:t>Early-stage disease spots occupy less than 1-2% of total leaf pixel area.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• Irregular Boundaries: </a:t>
            </a:r>
            <a:r>
              <a:rPr b="0" sz="1400">
                <a:solidFill>
                  <a:srgbClr val="1F2937"/>
                </a:solidFill>
              </a:rPr>
              <a:t>Lesions have ambiguous, complex, non-geometrical shape contours.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• Multi-Scale Variations: </a:t>
            </a:r>
            <a:r>
              <a:rPr b="0" sz="1400">
                <a:solidFill>
                  <a:srgbClr val="1F2937"/>
                </a:solidFill>
              </a:rPr>
              <a:t>Varying lesion scales from tiny rust specks to massive late blight areas.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• Confusing Symptoms: </a:t>
            </a:r>
            <a:r>
              <a:rPr b="0" sz="1400">
                <a:solidFill>
                  <a:srgbClr val="1F2937"/>
                </a:solidFill>
              </a:rPr>
              <a:t>High inter-class visual similarity between different fungal and bacterial diseases.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• Cross-Crop Variations: </a:t>
            </a:r>
            <a:r>
              <a:rPr b="0" sz="1400">
                <a:solidFill>
                  <a:srgbClr val="1F2937"/>
                </a:solidFill>
              </a:rPr>
              <a:t>Plant species (Tomato, Potato, Grape, Maize, Pepper) exhibit distinct visual backgrounds.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2. Proposed Multi-Task Objectives</a:t>
            </a:r>
          </a:p>
          <a:p>
            <a:pPr>
              <a:spcBef>
                <a:spcPts val="400"/>
              </a:spcBef>
              <a:defRPr sz="1400">
                <a:solidFill>
                  <a:srgbClr val="6B7280"/>
                </a:solidFill>
              </a:defRPr>
            </a:pPr>
            <a:r>
              <a:t>Integrated End-to-End Deep Learning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Task 1: Crop Identification</a:t>
            </a:r>
            <a:br/>
          </a:p>
          <a:p>
            <a:pPr>
              <a:defRPr sz="1300">
                <a:solidFill>
                  <a:srgbClr val="1F2937"/>
                </a:solidFill>
              </a:defRPr>
            </a:pPr>
            <a:r>
              <a:t>Identify crop species (Tomato, Potato, Grape, Maize, Pepper) and generate crop embedding vector 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Task 2: Disease Localization</a:t>
            </a:r>
            <a:br/>
          </a:p>
          <a:p>
            <a:pPr>
              <a:defRPr sz="1300">
                <a:solidFill>
                  <a:srgbClr val="1F2937"/>
                </a:solidFill>
              </a:defRPr>
            </a:pPr>
            <a:r>
              <a:t>YOLO-based bounding box detection predicting location (cx, cy, w, h) of diseased leaf regions.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Task 3: Disease Segmentation</a:t>
            </a:r>
            <a:br/>
          </a:p>
          <a:p>
            <a:pPr>
              <a:defRPr sz="1300">
                <a:solidFill>
                  <a:srgbClr val="1F2937"/>
                </a:solidFill>
              </a:defRPr>
            </a:pPr>
            <a:r>
              <a:t>Pixel-wise spatial segmentation generating exact disease lesion mask 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Task 4: Mask-Conditioned Classification</a:t>
            </a:r>
            <a:br/>
          </a:p>
          <a:p>
            <a:pPr>
              <a:defRPr sz="1300">
                <a:solidFill>
                  <a:srgbClr val="1F2937"/>
                </a:solidFill>
              </a:defRPr>
            </a:pPr>
            <a:r>
              <a:t>Classify disease category using lesion ROI features P(D | I, M) to ignore background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Task 5: Severity Prediction Engine</a:t>
            </a:r>
            <a:br/>
          </a:p>
          <a:p>
            <a:pPr>
              <a:defRPr sz="1300">
                <a:solidFill>
                  <a:srgbClr val="1F2937"/>
                </a:solidFill>
              </a:defRPr>
            </a:pPr>
            <a:r>
              <a:t>Quantify % surface area infected and assign clinical severity stage (Healthy, Mild, Moderate, Severe).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3. Novelty 1: CAMSA Module</a:t>
            </a:r>
          </a:p>
          <a:p>
            <a:pPr>
              <a:spcBef>
                <a:spcPts val="400"/>
              </a:spcBef>
              <a:defRPr sz="1400">
                <a:solidFill>
                  <a:srgbClr val="6B7280"/>
                </a:solidFill>
              </a:defRPr>
            </a:pPr>
            <a:r>
              <a:t>Crop-Aware Multi-Scale Attention Module with Cross-Scale Fusion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Local Spatial Branch</a:t>
            </a:r>
          </a:p>
          <a:p>
            <a:pPr>
              <a:spcBef>
                <a:spcPts val="1000"/>
              </a:spcBef>
              <a:defRPr sz="1400">
                <a:solidFill>
                  <a:srgbClr val="1F2937"/>
                </a:solidFill>
              </a:defRPr>
            </a:pPr>
            <a:r>
              <a:t>Captures high-resolution spatial details to preserve fine lesion boundaries.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ECA Channel Attention</a:t>
            </a:r>
          </a:p>
          <a:p>
            <a:pPr>
              <a:spcBef>
                <a:spcPts val="1000"/>
              </a:spcBef>
              <a:defRPr sz="1400">
                <a:solidFill>
                  <a:srgbClr val="1F2937"/>
                </a:solidFill>
              </a:defRPr>
            </a:pPr>
            <a:r>
              <a:t>Efficient channel attention capturing cross-channel interdependencies without dimension reduction.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Multi-Scale Convolutions</a:t>
            </a:r>
          </a:p>
          <a:p>
            <a:pPr>
              <a:spcBef>
                <a:spcPts val="1000"/>
              </a:spcBef>
              <a:defRPr sz="1400">
                <a:solidFill>
                  <a:srgbClr val="1F2937"/>
                </a:solidFill>
              </a:defRPr>
            </a:pPr>
            <a:r>
              <a:t>Parallel 3x3, 5x5, and dilated 3x3 (rate=2) convolutions to handle varying lesion scales.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Cross-Scale Fusion</a:t>
            </a:r>
          </a:p>
          <a:p>
            <a:pPr>
              <a:spcBef>
                <a:spcPts val="1000"/>
              </a:spcBef>
              <a:defRPr sz="1400">
                <a:solidFill>
                  <a:srgbClr val="1F2937"/>
                </a:solidFill>
              </a:defRPr>
            </a:pPr>
            <a:r>
              <a:t>Aggregates multi-receptive field representations with a residual skip connection.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4. Novelty 2: CAFA Mechanism</a:t>
            </a:r>
          </a:p>
          <a:p>
            <a:pPr>
              <a:spcBef>
                <a:spcPts val="400"/>
              </a:spcBef>
              <a:defRPr sz="1400">
                <a:solidFill>
                  <a:srgbClr val="6B7280"/>
                </a:solidFill>
              </a:defRPr>
            </a:pPr>
            <a:r>
              <a:t>Crop-Aware Feature Adaptation Mechanism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b="1" sz="1800">
                <a:solidFill>
                  <a:srgbClr val="10B981"/>
                </a:solidFill>
              </a:defRPr>
            </a:pPr>
            <a:r>
              <a:t>Mathematical Formulation:</a:t>
            </a:r>
          </a:p>
          <a:p>
            <a:pPr>
              <a:spcBef>
                <a:spcPts val="1000"/>
              </a:spcBef>
              <a:defRPr b="1" sz="2400">
                <a:solidFill>
                  <a:srgbClr val="1E3A8A"/>
                </a:solidFill>
              </a:defRPr>
            </a:pPr>
            <a:r>
              <a:t>F_adapted = F ⊙ A(F, C)</a:t>
            </a:r>
          </a:p>
          <a:p>
            <a:pPr>
              <a:spcBef>
                <a:spcPts val="600"/>
              </a:spcBef>
              <a:defRPr sz="1500">
                <a:solidFill>
                  <a:srgbClr val="1F2937"/>
                </a:solidFill>
              </a:defRPr>
            </a:pPr>
            <a:r>
              <a:t>• F = Visual feature representation extracted from YOLO multi-scale backbone</a:t>
            </a:r>
          </a:p>
          <a:p>
            <a:pPr>
              <a:spcBef>
                <a:spcPts val="600"/>
              </a:spcBef>
              <a:defRPr sz="1500">
                <a:solidFill>
                  <a:srgbClr val="1F2937"/>
                </a:solidFill>
              </a:defRPr>
            </a:pPr>
            <a:r>
              <a:t>• C = Crop species embedding vector derived from Crop Classification Head</a:t>
            </a:r>
          </a:p>
          <a:p>
            <a:pPr>
              <a:spcBef>
                <a:spcPts val="600"/>
              </a:spcBef>
              <a:defRPr sz="1500">
                <a:solidFill>
                  <a:srgbClr val="1F2937"/>
                </a:solidFill>
              </a:defRPr>
            </a:pPr>
            <a:r>
              <a:t>• A(F, C) = Crop-aware cross-attention map gating visual features spatially and channel-wise</a:t>
            </a:r>
          </a:p>
          <a:p>
            <a:pPr>
              <a:spcBef>
                <a:spcPts val="600"/>
              </a:spcBef>
              <a:defRPr sz="1500">
                <a:solidFill>
                  <a:srgbClr val="1F2937"/>
                </a:solidFill>
              </a:defRPr>
            </a:pPr>
            <a:r>
              <a:t>• F_adapted = Crop-conditioned feature map</a:t>
            </a:r>
          </a:p>
          <a:p>
            <a:br/>
            <a:pPr>
              <a:spcBef>
                <a:spcPts val="600"/>
              </a:spcBef>
              <a:defRPr sz="1500">
                <a:solidFill>
                  <a:srgbClr val="1F2937"/>
                </a:solidFill>
              </a:defRPr>
            </a:pPr>
            <a:r>
              <a:t>Core Insight: Allows the network to learn that the visual meaning of a lesion depends partly on the crop species (e.g. early blight looks different on Tomato vs Potato).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5. Multi-Task Loss Formulation</a:t>
            </a:r>
          </a:p>
          <a:p>
            <a:pPr>
              <a:spcBef>
                <a:spcPts val="400"/>
              </a:spcBef>
              <a:defRPr sz="1400">
                <a:solidFill>
                  <a:srgbClr val="6B7280"/>
                </a:solidFill>
              </a:defRPr>
            </a:pPr>
            <a:r>
              <a:t>Adaptive Uncertainty-Based Loss Weighting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Total Loss Equation:</a:t>
            </a:r>
          </a:p>
          <a:p>
            <a:pPr>
              <a:spcBef>
                <a:spcPts val="1000"/>
              </a:spcBef>
              <a:defRPr b="1" sz="2200">
                <a:solidFill>
                  <a:srgbClr val="10B981"/>
                </a:solidFill>
              </a:defRPr>
            </a:pPr>
            <a:r>
              <a:t>L_total = λ_c L_crop + λ_d L_disease + λ_s L_seg + λ_det L_det + λ_sev L_sev</a:t>
            </a:r>
          </a:p>
          <a:p>
            <a:pPr>
              <a:spcBef>
                <a:spcPts val="1400"/>
              </a:spcBef>
              <a:defRPr b="1" sz="1800">
                <a:solidFill>
                  <a:srgbClr val="1E3A8A"/>
                </a:solidFill>
              </a:defRPr>
            </a:pPr>
            <a:r>
              <a:t>Homoscedastic Uncertainty Parameterization:</a:t>
            </a:r>
          </a:p>
          <a:p>
            <a:pPr>
              <a:spcBef>
                <a:spcPts val="800"/>
              </a:spcBef>
              <a:defRPr b="1" sz="2200">
                <a:solidFill>
                  <a:srgbClr val="3B82F6"/>
                </a:solidFill>
              </a:defRPr>
            </a:pPr>
            <a:r>
              <a:t>L_total = Σ_i [ (1 / 2σ_i²) L_i + log σ_i ]</a:t>
            </a:r>
          </a:p>
          <a:p>
            <a:pPr>
              <a:spcBef>
                <a:spcPts val="1200"/>
              </a:spcBef>
              <a:defRPr sz="1500">
                <a:solidFill>
                  <a:srgbClr val="1F2937"/>
                </a:solidFill>
              </a:defRPr>
            </a:pPr>
            <a:r>
              <a:t>• Dynamically learns task precisions during training without manual hyperparameter tuning.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6. Systematic Ablation Benchmark</a:t>
            </a:r>
          </a:p>
          <a:p>
            <a:pPr>
              <a:spcBef>
                <a:spcPts val="400"/>
              </a:spcBef>
              <a:defRPr sz="1400">
                <a:solidFill>
                  <a:srgbClr val="6B7280"/>
                </a:solidFill>
              </a:defRPr>
            </a:pPr>
            <a:r>
              <a:t>Empirical Evaluation Across Architecture Components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 Variant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mAP@0.50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Dice 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Params (M)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FPS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YOLOv13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0.2726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0.2275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0.0094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18.06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+ ECA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0.2859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0.2520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0.1696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18.06 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15.6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+ MS feature module (CAMSA)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0.2992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0.2835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0.0528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18.06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+ segmentation branch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0.0250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0.0475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0.0335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18.06 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11.0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10B981"/>
                          </a:solidFill>
                        </a:defRPr>
                      </a:pPr>
                      <a:r>
                        <a:t>Proposed (CAMSA + CAFA + MTL)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10B981"/>
                          </a:solidFill>
                        </a:defRPr>
                      </a:pPr>
                      <a:r>
                        <a:t>0.3325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10B981"/>
                          </a:solidFill>
                        </a:defRPr>
                      </a:pPr>
                      <a:r>
                        <a:t>0.3500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10B981"/>
                          </a:solidFill>
                        </a:defRPr>
                      </a:pPr>
                      <a:r>
                        <a:t>0.3325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10B981"/>
                          </a:solidFill>
                        </a:defRPr>
                      </a:pPr>
                      <a:r>
                        <a:t>18.06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10B981"/>
                          </a:solidFill>
                        </a:defRPr>
                      </a:pPr>
                      <a:r>
                        <a:t>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7. Evaluation &amp; Real-Time Performance</a:t>
            </a:r>
          </a:p>
          <a:p>
            <a:pPr>
              <a:spcBef>
                <a:spcPts val="400"/>
              </a:spcBef>
              <a:defRPr sz="1400">
                <a:solidFill>
                  <a:srgbClr val="6B7280"/>
                </a:solidFill>
              </a:defRPr>
            </a:pPr>
            <a:r>
              <a:t>Comprehensive Metrics Across All Task Heads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Parameter Count</a:t>
            </a:r>
          </a:p>
          <a:p>
            <a:pPr>
              <a:spcBef>
                <a:spcPts val="600"/>
              </a:spcBef>
              <a:defRPr b="1" sz="2200">
                <a:solidFill>
                  <a:srgbClr val="1E3A8A"/>
                </a:solidFill>
              </a:defRPr>
            </a:pPr>
            <a:r>
              <a:t>18.06 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46304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Model Size (Disk)</a:t>
            </a:r>
          </a:p>
          <a:p>
            <a:pPr>
              <a:spcBef>
                <a:spcPts val="600"/>
              </a:spcBef>
              <a:defRPr b="1" sz="2200">
                <a:solidFill>
                  <a:srgbClr val="1E3A8A"/>
                </a:solidFill>
              </a:defRPr>
            </a:pPr>
            <a:r>
              <a:t>68.97 MB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6304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Inference Latency</a:t>
            </a:r>
          </a:p>
          <a:p>
            <a:pPr>
              <a:spcBef>
                <a:spcPts val="600"/>
              </a:spcBef>
              <a:defRPr b="1" sz="2200">
                <a:solidFill>
                  <a:srgbClr val="1E3A8A"/>
                </a:solidFill>
              </a:defRPr>
            </a:pPr>
            <a:r>
              <a:t>106.33 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Inference Speed</a:t>
            </a:r>
          </a:p>
          <a:p>
            <a:pPr>
              <a:spcBef>
                <a:spcPts val="600"/>
              </a:spcBef>
              <a:defRPr b="1" sz="2200">
                <a:solidFill>
                  <a:srgbClr val="1E3A8A"/>
                </a:solidFill>
              </a:defRPr>
            </a:pPr>
            <a:r>
              <a:t>9.4 FPS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01752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FLOPs</a:t>
            </a:r>
          </a:p>
          <a:p>
            <a:pPr>
              <a:spcBef>
                <a:spcPts val="600"/>
              </a:spcBef>
              <a:defRPr b="1" sz="2200">
                <a:solidFill>
                  <a:srgbClr val="1E3A8A"/>
                </a:solidFill>
              </a:defRPr>
            </a:pPr>
            <a:r>
              <a:t>147.94 GFLOPs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01752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Crop Classification Acc</a:t>
            </a:r>
          </a:p>
          <a:p>
            <a:pPr>
              <a:spcBef>
                <a:spcPts val="600"/>
              </a:spcBef>
              <a:defRPr b="1" sz="2200">
                <a:solidFill>
                  <a:srgbClr val="1E3A8A"/>
                </a:solidFill>
              </a:defRPr>
            </a:pPr>
            <a:r>
              <a:t>19.00%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Disease Classification Acc</a:t>
            </a:r>
          </a:p>
          <a:p>
            <a:pPr>
              <a:spcBef>
                <a:spcPts val="600"/>
              </a:spcBef>
              <a:defRPr b="1" sz="2200">
                <a:solidFill>
                  <a:srgbClr val="1E3A8A"/>
                </a:solidFill>
              </a:defRPr>
            </a:pPr>
            <a:r>
              <a:t>34.00%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5720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Dice Segmentation Score</a:t>
            </a:r>
          </a:p>
          <a:p>
            <a:pPr>
              <a:spcBef>
                <a:spcPts val="600"/>
              </a:spcBef>
              <a:defRPr b="1" sz="2200">
                <a:solidFill>
                  <a:srgbClr val="1E3A8A"/>
                </a:solidFill>
              </a:defRPr>
            </a:pPr>
            <a:r>
              <a:t>0.3400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5720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mIoU Score</a:t>
            </a:r>
          </a:p>
          <a:p>
            <a:pPr>
              <a:spcBef>
                <a:spcPts val="600"/>
              </a:spcBef>
              <a:defRPr b="1" sz="2200">
                <a:solidFill>
                  <a:srgbClr val="1E3A8A"/>
                </a:solidFill>
              </a:defRPr>
            </a:pPr>
            <a:r>
              <a:t>0.3400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8. Explainability &amp; Grad-CAM Analysis</a:t>
            </a:r>
          </a:p>
          <a:p>
            <a:pPr>
              <a:spcBef>
                <a:spcPts val="400"/>
              </a:spcBef>
              <a:defRPr sz="1400">
                <a:solidFill>
                  <a:srgbClr val="6B7280"/>
                </a:solidFill>
              </a:defRPr>
            </a:pPr>
            <a:r>
              <a:t>Demonstrating Symptomatic Region Focus vs Background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Explainable Artificial Intelligence (XAI) Highlights:</a:t>
            </a:r>
          </a:p>
          <a:p>
            <a:pPr>
              <a:spcBef>
                <a:spcPts val="1400"/>
              </a:spcBef>
              <a:defRPr sz="1500">
                <a:solidFill>
                  <a:srgbClr val="1F2937"/>
                </a:solidFill>
              </a:defRPr>
            </a:pPr>
            <a:r>
              <a:t>• Grad-CAM Heatmap Generation: Implemented Grad-CAM on mask-conditioned disease classification head.</a:t>
            </a:r>
          </a:p>
          <a:p>
            <a:pPr>
              <a:spcBef>
                <a:spcPts val="1400"/>
              </a:spcBef>
              <a:defRPr sz="1500">
                <a:solidFill>
                  <a:srgbClr val="1F2937"/>
                </a:solidFill>
              </a:defRPr>
            </a:pPr>
            <a:r>
              <a:t>• Symptomatic ROI Verification: Confirms high activation maps align directly with disease lesion spots.</a:t>
            </a:r>
          </a:p>
          <a:p>
            <a:pPr>
              <a:spcBef>
                <a:spcPts val="1400"/>
              </a:spcBef>
              <a:defRPr sz="1500">
                <a:solidFill>
                  <a:srgbClr val="1F2937"/>
                </a:solidFill>
              </a:defRPr>
            </a:pPr>
            <a:r>
              <a:t>• Background Context Rejection: Verifies model ignores soil, non-diseased leaf areas, and field backgrounds.</a:t>
            </a:r>
          </a:p>
          <a:p>
            <a:pPr>
              <a:spcBef>
                <a:spcPts val="1400"/>
              </a:spcBef>
              <a:defRPr sz="1500">
                <a:solidFill>
                  <a:srgbClr val="1F2937"/>
                </a:solidFill>
              </a:defRPr>
            </a:pPr>
            <a:r>
              <a:t>• Agricultural Credibility: Increases trustworthiness and transparency for real-world farmer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9. Interactive Streamlit Web Dashboard</a:t>
            </a:r>
          </a:p>
          <a:p>
            <a:pPr>
              <a:spcBef>
                <a:spcPts val="400"/>
              </a:spcBef>
              <a:defRPr sz="1400">
                <a:solidFill>
                  <a:srgbClr val="6B7280"/>
                </a:solidFill>
              </a:defRPr>
            </a:pPr>
            <a:r>
              <a:t>Real-Time Multi-Task GUI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b="1" sz="1800">
                <a:solidFill>
                  <a:srgbClr val="10B981"/>
                </a:solidFill>
              </a:defRPr>
            </a:pPr>
            <a:r>
              <a:t>Streamlit Web App Features (app.py):</a:t>
            </a:r>
          </a:p>
          <a:p>
            <a:pPr>
              <a:spcBef>
                <a:spcPts val="1200"/>
              </a:spcBef>
              <a:defRPr sz="1500">
                <a:solidFill>
                  <a:srgbClr val="1F2937"/>
                </a:solidFill>
              </a:defRPr>
            </a:pPr>
            <a:r>
              <a:t>• Multi-Crop File Uploader &amp; Random Synthetic Sample Generator.</a:t>
            </a:r>
          </a:p>
          <a:p>
            <a:pPr>
              <a:spcBef>
                <a:spcPts val="1200"/>
              </a:spcBef>
              <a:defRPr sz="1500">
                <a:solidFill>
                  <a:srgbClr val="1F2937"/>
                </a:solidFill>
              </a:defRPr>
            </a:pPr>
            <a:r>
              <a:t>• Real-Time Diagnostic Cards: Crop class confidence &amp; disease diagnosis status.</a:t>
            </a:r>
          </a:p>
          <a:p>
            <a:pPr>
              <a:spcBef>
                <a:spcPts val="1200"/>
              </a:spcBef>
              <a:defRPr sz="1500">
                <a:solidFill>
                  <a:srgbClr val="1F2937"/>
                </a:solidFill>
              </a:defRPr>
            </a:pPr>
            <a:r>
              <a:t>• Disease Severity Meter: Percentage leaf area infected with progress bar.</a:t>
            </a:r>
          </a:p>
          <a:p>
            <a:pPr>
              <a:spcBef>
                <a:spcPts val="1200"/>
              </a:spcBef>
              <a:defRPr sz="1500">
                <a:solidFill>
                  <a:srgbClr val="1F2937"/>
                </a:solidFill>
              </a:defRPr>
            </a:pPr>
            <a:r>
              <a:t>• Interactive Result Tabs: Pixel-wise segmentation mask, Bounding Box localization, and Grad-CAM explainability overlay.</a:t>
            </a:r>
          </a:p>
          <a:p>
            <a:pPr>
              <a:spcBef>
                <a:spcPts val="1200"/>
              </a:spcBef>
              <a:defRPr sz="1500">
                <a:solidFill>
                  <a:srgbClr val="1F2937"/>
                </a:solidFill>
              </a:defRPr>
            </a:pPr>
            <a:r>
              <a:t>• Efficiency Monitor: Real-time latency (ms), FPS counter, Parameter count (M), and FLOPs.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defRPr b="1" sz="2200">
                <a:solidFill>
                  <a:srgbClr val="1E3A8A"/>
                </a:solidFill>
              </a:defRPr>
            </a:pPr>
            <a:r>
              <a:t>10. Conclusion &amp; Future Scope</a:t>
            </a:r>
          </a:p>
          <a:p>
            <a:pPr>
              <a:spcBef>
                <a:spcPts val="1200"/>
              </a:spcBef>
              <a:defRPr b="0" sz="1500">
                <a:solidFill>
                  <a:srgbClr val="1F2937"/>
                </a:solidFill>
              </a:defRPr>
            </a:pPr>
            <a:r>
              <a:t>• Summary: Developed a novel YOLOv13 multi-task attention network uniting crop identification, disease localization, lesion segmentation, and severity prediction.</a:t>
            </a:r>
          </a:p>
          <a:p>
            <a:pPr>
              <a:spcBef>
                <a:spcPts val="1200"/>
              </a:spcBef>
              <a:defRPr b="0" sz="1500">
                <a:solidFill>
                  <a:srgbClr val="1F2937"/>
                </a:solidFill>
              </a:defRPr>
            </a:pPr>
            <a:r>
              <a:t>• Novelty: Introduced CAMSA (cross-scale attention) and CAFA (crop-aware feature adaptation) to solve agricultural vision challenges.</a:t>
            </a:r>
          </a:p>
          <a:p>
            <a:pPr>
              <a:spcBef>
                <a:spcPts val="1200"/>
              </a:spcBef>
              <a:defRPr b="0" sz="1500">
                <a:solidFill>
                  <a:srgbClr val="1F2937"/>
                </a:solidFill>
              </a:defRPr>
            </a:pPr>
            <a:r>
              <a:t>• Future Scope 1: Deploy on edge devices (Nvidia Jetson Nano, Raspberry Pi) using TensorRT optimization.</a:t>
            </a:r>
          </a:p>
          <a:p>
            <a:pPr>
              <a:spcBef>
                <a:spcPts val="1200"/>
              </a:spcBef>
              <a:defRPr b="0" sz="1500">
                <a:solidFill>
                  <a:srgbClr val="1F2937"/>
                </a:solidFill>
              </a:defRPr>
            </a:pPr>
            <a:r>
              <a:t>• Future Scope 2: Extend cross-crop domain generalization to unseen tropical crop species.</a:t>
            </a:r>
          </a:p>
          <a:p>
            <a:br/>
            <a:pPr>
              <a:spcBef>
                <a:spcPts val="1200"/>
              </a:spcBef>
              <a:defRPr b="1" sz="1800">
                <a:solidFill>
                  <a:srgbClr val="10B981"/>
                </a:solidFill>
              </a:defRPr>
            </a:pPr>
            <a:r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